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5dfdfee1-c002-e118-7da0-4c9299ded62b}">
          <p14:sldIdLst>
            <p14:sldId id="256"/>
            <p14:sldId id="257"/>
            <p14:sldId id="258"/>
            <p14:sldId id="259"/>
            <p14:sldId id="260"/>
            <p14:sldId id="261"/>
          </p14:sldIdLst>
        </p14:section>
        <p14:section name="Solution" id="{dc91e098-0fc0-a83d-8a13-e94aa2748d43}">
          <p14:sldIdLst>
            <p14:sldId id="262"/>
            <p14:sldId id="263"/>
          </p14:sldIdLst>
        </p14:section>
        <p14:section name="Why us" id="{88b8d8a2-660f-94b3-ee80-2429352ea84c}">
          <p14:sldIdLst>
            <p14:sldId id="264"/>
            <p14:sldId id="265"/>
            <p14:sldId id="266"/>
            <p14:sldId id="267"/>
          </p14:sldIdLst>
        </p14:section>
        <p14:section name="Demo" id="{eed2cf82-c81b-09a8-aa34-7312c53e4d77}">
          <p14:sldIdLst>
            <p14:sldId id="268"/>
          </p14:sldIdLst>
        </p14:section>
        <p14:section name="Technology" id="{e00005c6-9c7a-0c8f-a9e3-0468a6992f40}">
          <p14:sldIdLst>
            <p14:sldId id="269"/>
            <p14:sldId id="270"/>
            <p14:sldId id="271"/>
          </p14:sldIdLst>
        </p14:section>
        <p14:section name="Business" id="{2dd40533-047b-62b7-25bb-fd1238fa9345}">
          <p14:sldIdLst>
            <p14:sldId id="272"/>
            <p14:sldId id="273"/>
          </p14:sldIdLst>
        </p14:section>
        <p14:section name="Close" id="{d0747172-b0c5-ba1b-3e60-ec9427979da8}">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AI could do</c:v>
                </c:pt>
              </c:strCache>
            </c:strRef>
          </c:tx>
          <c:spPr>
            <a:solidFill>
              <a:srgbClr val="B9BAB7"/>
            </a:solidFill>
            <a:effectLst/>
          </c:spPr>
          <c:invertIfNegative val="0"/>
          <c:dLbls>
            <c:numFmt formatCode="0&quot;%&quot;" sourceLinked="0"/>
            <c:txPr>
              <a:bodyPr/>
              <a:lstStyle/>
              <a:p>
                <a:pPr>
                  <a:defRPr b="1" i="0" strike="noStrike" sz="1600" u="none">
                    <a:solidFill>
                      <a:srgbClr val="121212"/>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Computer &amp; maths</c:v>
                  </c:pt>
                  <c:pt idx="1">
                    <c:v>Office &amp; admin</c:v>
                  </c:pt>
                  <c:pt idx="2">
                    <c:v>Business &amp; finance</c:v>
                  </c:pt>
                  <c:pt idx="3">
                    <c:v>Legal</c:v>
                  </c:pt>
                  <c:pt idx="4">
                    <c:v>Engineering</c:v>
                  </c:pt>
                </c:lvl>
              </c:multiLvlStrCache>
            </c:multiLvlStrRef>
          </c:cat>
          <c:val>
            <c:numRef>
              <c:f>Sheet1!$B$2:$B$6</c:f>
              <c:numCache>
                <c:formatCode>General</c:formatCode>
                <c:ptCount val="5"/>
                <c:pt idx="0">
                  <c:v>94</c:v>
                </c:pt>
                <c:pt idx="1">
                  <c:v>90</c:v>
                </c:pt>
                <c:pt idx="2">
                  <c:v>75</c:v>
                </c:pt>
                <c:pt idx="3">
                  <c:v>68</c:v>
                </c:pt>
                <c:pt idx="4">
                  <c:v>65</c:v>
                </c:pt>
              </c:numCache>
            </c:numRef>
          </c:val>
        </c:ser>
        <c:ser>
          <c:idx val="1"/>
          <c:order val="1"/>
          <c:tx>
            <c:strRef>
              <c:f>Sheet1!$C$1</c:f>
              <c:strCache>
                <c:ptCount val="1"/>
                <c:pt idx="0">
                  <c:v>AI already does</c:v>
                </c:pt>
              </c:strCache>
            </c:strRef>
          </c:tx>
          <c:spPr>
            <a:solidFill>
              <a:srgbClr val="C8102E"/>
            </a:solidFill>
            <a:effectLst/>
          </c:spPr>
          <c:invertIfNegative val="0"/>
          <c:dLbls>
            <c:numFmt formatCode="0&quot;%&quot;" sourceLinked="0"/>
            <c:txPr>
              <a:bodyPr/>
              <a:lstStyle/>
              <a:p>
                <a:pPr>
                  <a:defRPr b="1" i="0" strike="noStrike" sz="1600" u="none">
                    <a:solidFill>
                      <a:srgbClr val="121212"/>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Computer &amp; maths</c:v>
                  </c:pt>
                  <c:pt idx="1">
                    <c:v>Office &amp; admin</c:v>
                  </c:pt>
                  <c:pt idx="2">
                    <c:v>Business &amp; finance</c:v>
                  </c:pt>
                  <c:pt idx="3">
                    <c:v>Legal</c:v>
                  </c:pt>
                  <c:pt idx="4">
                    <c:v>Engineering</c:v>
                  </c:pt>
                </c:lvl>
              </c:multiLvlStrCache>
            </c:multiLvlStrRef>
          </c:cat>
          <c:val>
            <c:numRef>
              <c:f>Sheet1!$C$2:$C$6</c:f>
              <c:numCache>
                <c:formatCode>General</c:formatCode>
                <c:ptCount val="5"/>
                <c:pt idx="0">
                  <c:v>33</c:v>
                </c:pt>
                <c:pt idx="1">
                  <c:v>25</c:v>
                </c:pt>
                <c:pt idx="2">
                  <c:v>22</c:v>
                </c:pt>
                <c:pt idx="3">
                  <c:v>15</c:v>
                </c:pt>
                <c:pt idx="4">
                  <c:v>14</c:v>
                </c:pt>
              </c:numCache>
            </c:numRef>
          </c:val>
        </c:ser>
        <c:dLbls>
          <c:numFmt formatCode="0&quot;%&quot;" sourceLinked="0"/>
          <c:txPr>
            <a:bodyPr/>
            <a:lstStyle/>
            <a:p>
              <a:pPr>
                <a:defRPr b="1" i="0" strike="noStrike" sz="1600" u="none">
                  <a:solidFill>
                    <a:srgbClr val="121212"/>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21212"/>
                </a:solidFill>
                <a:latin typeface="+mn-lt"/>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6676B"/>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800">
              <a:solidFill>
                <a:srgbClr val="12121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Leaders who value it</c:v>
                </c:pt>
              </c:strCache>
            </c:strRef>
          </c:tx>
          <c:spPr>
            <a:solidFill>
              <a:srgbClr val="00843A"/>
            </a:solidFill>
            <a:effectLst/>
          </c:spPr>
          <c:invertIfNegative val="0"/>
          <c:dLbls>
            <c:numFmt formatCode="0&quot;%&quot;" sourceLinked="0"/>
            <c:txPr>
              <a:bodyPr/>
              <a:lstStyle/>
              <a:p>
                <a:pPr>
                  <a:defRPr b="1" i="0" strike="noStrike" sz="2200" u="none">
                    <a:solidFill>
                      <a:srgbClr val="121212"/>
                    </a:solidFill>
                    <a:latin typeface="+mn-lt"/>
                  </a:defRPr>
                </a:pPr>
              </a:p>
            </c:txPr>
            <c:showLegendKey val="0"/>
            <c:showVal val="1"/>
            <c:showCatName val="0"/>
            <c:showSerName val="0"/>
            <c:showPercent val="0"/>
            <c:showBubbleSize val="0"/>
            <c:showLeaderLines val="0"/>
          </c:dLbls>
          <c:dPt>
            <c:idx val="0"/>
            <c:invertIfNegative val="0"/>
            <c:bubble3D val="0"/>
            <c:spPr>
              <a:solidFill>
                <a:srgbClr val="00843A"/>
              </a:solidFill>
              <a:effectLst/>
            </c:spPr>
          </c:dPt>
          <c:dPt>
            <c:idx val="1"/>
            <c:invertIfNegative val="0"/>
            <c:bubble3D val="0"/>
            <c:spPr>
              <a:solidFill>
                <a:srgbClr val="00843A"/>
              </a:solidFill>
              <a:effectLst/>
            </c:spPr>
          </c:dPt>
          <c:dPt>
            <c:idx val="2"/>
            <c:invertIfNegative val="0"/>
            <c:bubble3D val="0"/>
            <c:spPr>
              <a:solidFill>
                <a:srgbClr val="00843A"/>
              </a:solidFill>
              <a:effectLst/>
            </c:spPr>
          </c:dPt>
          <c:dPt>
            <c:idx val="3"/>
            <c:invertIfNegative val="0"/>
            <c:bubble3D val="0"/>
            <c:spPr>
              <a:solidFill>
                <a:srgbClr val="66676B"/>
              </a:solidFill>
              <a:effectLst/>
            </c:spPr>
          </c:dPt>
          <c:dPt>
            <c:idx val="4"/>
            <c:invertIfNegative val="0"/>
            <c:bubble3D val="0"/>
            <c:spPr>
              <a:solidFill>
                <a:srgbClr val="66676B"/>
              </a:solidFill>
              <a:effectLst/>
            </c:spPr>
          </c:dPt>
          <c:dPt>
            <c:idx val="5"/>
            <c:invertIfNegative val="0"/>
            <c:bubble3D val="0"/>
            <c:spPr>
              <a:solidFill>
                <a:srgbClr val="C8102E"/>
              </a:solidFill>
              <a:effectLst/>
            </c:spPr>
          </c:dPt>
          <c:cat>
            <c:multiLvlStrRef>
              <c:f>Sheet1!$A$2:$A$7</c:f>
              <c:multiLvlStrCache>
                <c:ptCount val="6"/>
                <c:lvl>
                  <c:pt idx="0">
                    <c:v>Side projects</c:v>
                  </c:pt>
                  <c:pt idx="1">
                    <c:v>Internships</c:v>
                  </c:pt>
                  <c:pt idx="2">
                    <c:v>GitHub code</c:v>
                  </c:pt>
                  <c:pt idx="3">
                    <c:v>Degree</c:v>
                  </c:pt>
                  <c:pt idx="4">
                    <c:v>School name</c:v>
                  </c:pt>
                  <c:pt idx="5">
                    <c:v>Certificates</c:v>
                  </c:pt>
                </c:lvl>
              </c:multiLvlStrCache>
            </c:multiLvlStrRef>
          </c:cat>
          <c:val>
            <c:numRef>
              <c:f>Sheet1!$B$2:$B$7</c:f>
              <c:numCache>
                <c:formatCode>General</c:formatCode>
                <c:ptCount val="6"/>
                <c:pt idx="0">
                  <c:v>38</c:v>
                </c:pt>
                <c:pt idx="1">
                  <c:v>35</c:v>
                </c:pt>
                <c:pt idx="2">
                  <c:v>34</c:v>
                </c:pt>
                <c:pt idx="3">
                  <c:v>23</c:v>
                </c:pt>
                <c:pt idx="4">
                  <c:v>17</c:v>
                </c:pt>
                <c:pt idx="5">
                  <c:v>4</c:v>
                </c:pt>
              </c:numCache>
            </c:numRef>
          </c:val>
        </c:ser>
        <c:dLbls>
          <c:numFmt formatCode="0&quot;%&quot;" sourceLinked="0"/>
          <c:txPr>
            <a:bodyPr/>
            <a:lstStyle/>
            <a:p>
              <a:pPr>
                <a:defRPr b="1" i="0" strike="noStrike" sz="2200" u="none">
                  <a:solidFill>
                    <a:srgbClr val="121212"/>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2000" b="0" i="0" u="none" strike="noStrike">
                <a:solidFill>
                  <a:srgbClr val="121212"/>
                </a:solidFill>
                <a:latin typeface="+mn-lt"/>
              </a:defRPr>
            </a:pPr>
            <a:endParaRPr lang="en-US"/>
          </a:p>
        </c:txPr>
        <c:crossAx val="2094734552"/>
        <c:crosses val="autoZero"/>
        <c:auto val="1"/>
        <c:lblAlgn val="ctr"/>
        <c:noMultiLvlLbl val="1"/>
      </c:catAx>
      <c:valAx>
        <c:axId val="2094734552"/>
        <c:scaling>
          <c:orientation val="minMax"/>
          <c:max val="4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667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Hokkien Mee Is Purple, and this is Varity. One line: don't just learn it,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expects 70 percent of the skills in most jobs to change by 2030. Ten years ago, a programmer learned a few languages, built a few projects, and was ready. Now the target moves every few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it in our own data: 48 thousand Hacker News hiring posts since 2019. In 2019 no post asked for LLM skills; now 15 percent do. In 2019, 11 percent of posts asked for Java; now only 4 percent do. Java still works, but far fewer new jobs ask for it. A safe skill in 2019 is a rare ask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the company behind Claude, studied every type of job. Grey is how much of the work AI could do in theory. Red is how much people already do with AI today. Computer and maths work is on top: AI could do 94 percent, and 33 percent is already done with AI, more than any other field. For computer programmers it is 75 percent. Tech workers feel AI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people who feel it first are tech graduates. In the US, 7 percent of new computer science graduates have no job; computer engineering is 7.8, among the highest of all majors. Stanford found about 20 percent fewer young software developers in work than in late 2022. 38 percent of engineering leaders cut junior hiring. Malaysia does not publish jobless rates by field, so these are US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Varity for people in tech who share one fear. Fresh CS graduates looking for a first job. Developers afraid of the next layoff. And people switching into tech. They all ask the same question: will my skills still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Varity takes you from your CV to proof in four stops. One: it reads your CV, and every skill must quote the sentence that proves it. Two: it ranks 8 tech roles by 70 percent skill match and 30 percent job demand, and shows the gap. Three: it turns the gap into a free daily plan. Four, the one no one else does: you build a project for that role, and Varity reviews your GitHub. The live demo shows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show you are ready? Engineering leaders trust side projects, internships and GitHub code. Degrees come after. Course certificates come last, at 4 percent. Finishing ten online courses proves almost nothing to an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sets us apart. First, and most important: proof, not certificates. You build a project for your target role, and the skill is marked Applied. Second: a jury of three AI models from three companies, Claude, GPT and DeepSeek, reviews and marks your project; two of three must agree, so no single AI decides. Third: every skill shows its proof, a quote from your CV or your code, and AI never makes up a number. Fourth: demand comes from real job posts, refreshed every day and tested on past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edge. Finishing a course only counts half. To make a skill count in full, you build a project made for your target role and submit your GitHub link. Code checks run first, then three AI models from three companies review and mark it, and every mark must point to a real line in your code. Pass, and the skill is stamped Applied, with a link an employer can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skill is proven, Varity helps you show it. The CV builder writes a CV for your target role from your proven skills. The CV assistant is a chat: paste a job ad and it tailors your CV, one checked edit at a time, and it asks you before adding anything new. Code rejects any claim your CV, your proof or your own answers cannot back, and any stronger verb than you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cover parts of the journey. Jobscan and LinkedIn read your CV and give a match. roadmap.sh, Coursera and LinkedIn Learning give a learning plan. What only Varity does: every skill shows the sentence from your CV that proves it, the project is built from your own skill gap for your target role, and three AI models review your own GitHub code. Coursera's Guided Projects and roadmap.sh's project ideas are general, not built from your gap, so they are marked partly.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5 minutes. Aina is synthetic: say so. CV upload, Why NN%, Pathway, then spend the most time on Project and Cert stations and the sample review. End on the APPLIED 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job posts come in every day. DeepSeek names the role in each post, and code keeps the label only if the quote is in the post. The forecast is the simplest model that won our backtest; 94 percent of real results landed inside its 80 percent range. Claude Haiku reads your CV, and code checks every quote. Matching and planning are pure code. AI never makes up a number. Labelling all 48 thousand posts cost US$2.63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Varity also tracks AI news, so users see what is changing. Code scores each story; Jev, a decision model from TypeSafe AI, gives a second opinion. To check the ranking without bias, three models from three companies, Claude Sonnet, GPT Sol and Gemini Argon, label the same stories on their own; the ranked models are never on the jury. The jury showed that urgent security news was buried. We fixed the story grouping and added a security rule, and ranking quality rose from 0.37 to 0.53. Note: the jury grades the ranker, it does not train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pure code: a real repo, not a fork, commits over several days, tests passing, a live demo. Step two, three AI models from three companies, Claude, GPT-5.4 mini and DeepSeek V4, vote on each skill. Step three, a vote only counts if the code it quotes is really on the line it cites. Two of three must agree, otherwise the review is delayed, never a free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pay about 32 ringgit a month, which is 8 US dollars. That covers the AI that reads CVs and reviews projects. Universities pay a yearly licence per class, to see which students have proven which skills. Employers pay a fee per hire of a graduate with Applied projects. The Applied label is what both universities and employers pay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cover tech roles in Malaysia. Next, we sell to more students and sign more universities and employers. Then we add more languages and market Varity worldwide. Later, we use the same AI engine for every field, not only computer science. A new field only needs job data and a skill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Varity: don't just learn it, prove it. It supports SDG 4.4, skills for work, and SDG 8.5, decent work for young people. Code: github.com/TayEeZhan/varity.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21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ctr"/>
          <a:lstStyle/>
          <a:p>
            <a:pPr algn="l" indent="0" marL="0">
              <a:buNone/>
            </a:pPr>
            <a:r>
              <a:rPr lang="en-US" sz="7200" b="1" dirty="0">
                <a:solidFill>
                  <a:schemeClr val="bg1"/>
                </a:solidFill>
              </a:rPr>
              <a:t>Varity</a:t>
            </a:r>
            <a:endParaRPr lang="en-US" sz="7200" dirty="0"/>
          </a:p>
        </p:txBody>
      </p:sp>
      <p:sp>
        <p:nvSpPr>
          <p:cNvPr id="3" name="Shape 1"/>
          <p:cNvSpPr/>
          <p:nvPr/>
        </p:nvSpPr>
        <p:spPr>
          <a:xfrm>
            <a:off x="731520" y="1325880"/>
            <a:ext cx="5486400" cy="0"/>
          </a:xfrm>
          <a:prstGeom prst="line">
            <a:avLst/>
          </a:prstGeom>
          <a:noFill/>
          <a:ln w="114300">
            <a:solidFill>
              <a:srgbClr val="0039A6"/>
            </a:solidFill>
            <a:prstDash val="solid"/>
          </a:ln>
        </p:spPr>
      </p:sp>
      <p:sp>
        <p:nvSpPr>
          <p:cNvPr id="4" name="Shape 2"/>
          <p:cNvSpPr/>
          <p:nvPr/>
        </p:nvSpPr>
        <p:spPr>
          <a:xfrm>
            <a:off x="722376" y="1133856"/>
            <a:ext cx="384048" cy="384048"/>
          </a:xfrm>
          <a:prstGeom prst="ellipse">
            <a:avLst/>
          </a:prstGeom>
          <a:solidFill>
            <a:srgbClr val="FFFFFF"/>
          </a:solidFill>
          <a:ln w="38100">
            <a:solidFill>
              <a:srgbClr val="121212"/>
            </a:solidFill>
            <a:prstDash val="solid"/>
          </a:ln>
        </p:spPr>
      </p:sp>
      <p:sp>
        <p:nvSpPr>
          <p:cNvPr id="5" name="Shape 3"/>
          <p:cNvSpPr/>
          <p:nvPr/>
        </p:nvSpPr>
        <p:spPr>
          <a:xfrm>
            <a:off x="2459736" y="1133856"/>
            <a:ext cx="384048" cy="384048"/>
          </a:xfrm>
          <a:prstGeom prst="ellipse">
            <a:avLst/>
          </a:prstGeom>
          <a:solidFill>
            <a:srgbClr val="FFFFFF"/>
          </a:solidFill>
          <a:ln w="38100">
            <a:solidFill>
              <a:srgbClr val="121212"/>
            </a:solidFill>
            <a:prstDash val="solid"/>
          </a:ln>
        </p:spPr>
      </p:sp>
      <p:sp>
        <p:nvSpPr>
          <p:cNvPr id="6" name="Shape 4"/>
          <p:cNvSpPr/>
          <p:nvPr/>
        </p:nvSpPr>
        <p:spPr>
          <a:xfrm>
            <a:off x="4197096" y="1133856"/>
            <a:ext cx="384048" cy="384048"/>
          </a:xfrm>
          <a:prstGeom prst="ellipse">
            <a:avLst/>
          </a:prstGeom>
          <a:solidFill>
            <a:srgbClr val="FFFFFF"/>
          </a:solidFill>
          <a:ln w="38100">
            <a:solidFill>
              <a:srgbClr val="121212"/>
            </a:solidFill>
            <a:prstDash val="solid"/>
          </a:ln>
        </p:spPr>
      </p:sp>
      <p:sp>
        <p:nvSpPr>
          <p:cNvPr id="7" name="Shape 5"/>
          <p:cNvSpPr/>
          <p:nvPr/>
        </p:nvSpPr>
        <p:spPr>
          <a:xfrm>
            <a:off x="5760720" y="640080"/>
            <a:ext cx="914400" cy="1371600"/>
          </a:xfrm>
          <a:prstGeom prst="roundRect">
            <a:avLst>
              <a:gd name="adj" fmla="val 50000"/>
            </a:avLst>
          </a:prstGeom>
          <a:solidFill>
            <a:srgbClr val="FCCC0A"/>
          </a:solidFill>
          <a:ln w="12700">
            <a:solidFill>
              <a:srgbClr val="FCCC0A"/>
            </a:solidFill>
            <a:prstDash val="solid"/>
          </a:ln>
        </p:spPr>
      </p:sp>
      <p:sp>
        <p:nvSpPr>
          <p:cNvPr id="8" name="Shape 6"/>
          <p:cNvSpPr/>
          <p:nvPr/>
        </p:nvSpPr>
        <p:spPr>
          <a:xfrm>
            <a:off x="5961888" y="822960"/>
            <a:ext cx="512064" cy="1005840"/>
          </a:xfrm>
          <a:prstGeom prst="roundRect">
            <a:avLst>
              <a:gd name="adj" fmla="val 50000"/>
            </a:avLst>
          </a:prstGeom>
          <a:solidFill>
            <a:srgbClr val="FFFFFF"/>
          </a:solidFill>
          <a:ln w="38100">
            <a:solidFill>
              <a:srgbClr val="121212"/>
            </a:solidFill>
            <a:prstDash val="solid"/>
          </a:ln>
        </p:spPr>
      </p:sp>
      <p:sp>
        <p:nvSpPr>
          <p:cNvPr id="9" name="Text 7"/>
          <p:cNvSpPr txBox="1"/>
          <p:nvPr/>
        </p:nvSpPr>
        <p:spPr>
          <a:xfrm>
            <a:off x="731520" y="3520440"/>
            <a:ext cx="10698480" cy="822960"/>
          </a:xfrm>
          <a:prstGeom prst="rect">
            <a:avLst/>
          </a:prstGeom>
          <a:noFill/>
          <a:ln/>
        </p:spPr>
        <p:txBody>
          <a:bodyPr wrap="square" lIns="0" tIns="0" rIns="0" bIns="0" rtlCol="0" anchor="ctr"/>
          <a:lstStyle/>
          <a:p>
            <a:pPr indent="0" marL="0">
              <a:buNone/>
            </a:pPr>
            <a:r>
              <a:rPr lang="en-US" sz="4000" b="1" dirty="0">
                <a:solidFill>
                  <a:schemeClr val="bg1"/>
                </a:solidFill>
                <a:latin typeface="Arial" pitchFamily="34" charset="0"/>
                <a:ea typeface="Arial" pitchFamily="34" charset="-122"/>
                <a:cs typeface="Arial" pitchFamily="34" charset="-120"/>
              </a:rPr>
              <a:t>Don't just learn it. Prove it.</a:t>
            </a:r>
            <a:endParaRPr lang="en-US" sz="4000" dirty="0"/>
          </a:p>
        </p:txBody>
      </p:sp>
      <p:sp>
        <p:nvSpPr>
          <p:cNvPr id="10" name="Text 8"/>
          <p:cNvSpPr txBox="1"/>
          <p:nvPr/>
        </p:nvSpPr>
        <p:spPr>
          <a:xfrm>
            <a:off x="731520" y="5760720"/>
            <a:ext cx="10698480" cy="457200"/>
          </a:xfrm>
          <a:prstGeom prst="rect">
            <a:avLst/>
          </a:prstGeom>
          <a:noFill/>
          <a:ln/>
        </p:spPr>
        <p:txBody>
          <a:bodyPr wrap="square" lIns="0" tIns="0" rIns="0" bIns="0" rtlCol="0" anchor="ctr"/>
          <a:lstStyle/>
          <a:p>
            <a:pPr indent="0" marL="0">
              <a:buNone/>
            </a:pPr>
            <a:r>
              <a:rPr lang="en-US" sz="1800" dirty="0">
                <a:solidFill>
                  <a:schemeClr val="bg1"/>
                </a:solidFill>
                <a:latin typeface="Arial" pitchFamily="34" charset="0"/>
                <a:ea typeface="Arial" pitchFamily="34" charset="-122"/>
                <a:cs typeface="Arial" pitchFamily="34" charset="-120"/>
              </a:rPr>
              <a:t>Hokkien Mee Is Purple · Tay Ee Zhan, Goh Sheng Kuan · SDC Hackathon 2026, Domain 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Will what I learn today still matter?</a:t>
            </a:r>
            <a:endParaRPr lang="en-US" sz="4000" dirty="0"/>
          </a:p>
        </p:txBody>
      </p:sp>
      <p:sp>
        <p:nvSpPr>
          <p:cNvPr id="3" name="Text 1"/>
          <p:cNvSpPr txBox="1"/>
          <p:nvPr/>
        </p:nvSpPr>
        <p:spPr>
          <a:xfrm>
            <a:off x="548640" y="1463040"/>
            <a:ext cx="5486400" cy="2194560"/>
          </a:xfrm>
          <a:prstGeom prst="rect">
            <a:avLst/>
          </a:prstGeom>
          <a:noFill/>
          <a:ln/>
        </p:spPr>
        <p:txBody>
          <a:bodyPr wrap="square" lIns="0" tIns="0" rIns="0" bIns="0" rtlCol="0" anchor="ctr"/>
          <a:lstStyle/>
          <a:p>
            <a:pPr indent="0" marL="0">
              <a:buNone/>
            </a:pPr>
            <a:r>
              <a:rPr lang="en-US" sz="17000" b="1" dirty="0">
                <a:solidFill>
                  <a:schemeClr val="accent4"/>
                </a:solidFill>
                <a:latin typeface="Arial" pitchFamily="34" charset="0"/>
                <a:ea typeface="Arial" pitchFamily="34" charset="-122"/>
                <a:cs typeface="Arial" pitchFamily="34" charset="-120"/>
              </a:rPr>
              <a:t>70%</a:t>
            </a:r>
            <a:endParaRPr lang="en-US" sz="17000" dirty="0"/>
          </a:p>
        </p:txBody>
      </p:sp>
      <p:sp>
        <p:nvSpPr>
          <p:cNvPr id="4" name="Text 2"/>
          <p:cNvSpPr txBox="1"/>
          <p:nvPr/>
        </p:nvSpPr>
        <p:spPr>
          <a:xfrm>
            <a:off x="6309360" y="2011680"/>
            <a:ext cx="5303520" cy="146304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of the skills in most jobs will change by 2030.</a:t>
            </a:r>
            <a:endParaRPr lang="en-US" sz="3600" dirty="0"/>
          </a:p>
        </p:txBody>
      </p:sp>
      <p:sp>
        <p:nvSpPr>
          <p:cNvPr id="5" name="Shape 3"/>
          <p:cNvSpPr/>
          <p:nvPr/>
        </p:nvSpPr>
        <p:spPr>
          <a:xfrm>
            <a:off x="0" y="4297680"/>
            <a:ext cx="12191695" cy="1280160"/>
          </a:xfrm>
          <a:prstGeom prst="rect">
            <a:avLst/>
          </a:prstGeom>
          <a:solidFill>
            <a:srgbClr val="FCCC0A"/>
          </a:solidFill>
          <a:ln w="12700">
            <a:solidFill>
              <a:srgbClr val="FCCC0A"/>
            </a:solidFill>
            <a:prstDash val="solid"/>
          </a:ln>
        </p:spPr>
      </p:sp>
      <p:sp>
        <p:nvSpPr>
          <p:cNvPr id="6" name="Shape 4"/>
          <p:cNvSpPr/>
          <p:nvPr/>
        </p:nvSpPr>
        <p:spPr>
          <a:xfrm>
            <a:off x="548640" y="4681728"/>
            <a:ext cx="2651760" cy="512064"/>
          </a:xfrm>
          <a:prstGeom prst="rect">
            <a:avLst/>
          </a:prstGeom>
          <a:solidFill>
            <a:srgbClr val="121212"/>
          </a:solidFill>
          <a:ln w="12700">
            <a:solidFill>
              <a:srgbClr val="121212"/>
            </a:solidFill>
            <a:prstDash val="solid"/>
          </a:ln>
        </p:spPr>
      </p:sp>
      <p:sp>
        <p:nvSpPr>
          <p:cNvPr id="7" name="Text 5"/>
          <p:cNvSpPr txBox="1"/>
          <p:nvPr/>
        </p:nvSpPr>
        <p:spPr>
          <a:xfrm>
            <a:off x="548640" y="4681728"/>
            <a:ext cx="2651760" cy="512064"/>
          </a:xfrm>
          <a:prstGeom prst="rect">
            <a:avLst/>
          </a:prstGeom>
          <a:no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Service change</a:t>
            </a:r>
            <a:endParaRPr lang="en-US" sz="2200" dirty="0"/>
          </a:p>
        </p:txBody>
      </p:sp>
      <p:sp>
        <p:nvSpPr>
          <p:cNvPr id="8" name="Text 6"/>
          <p:cNvSpPr txBox="1"/>
          <p:nvPr/>
        </p:nvSpPr>
        <p:spPr>
          <a:xfrm>
            <a:off x="3474720" y="4526280"/>
            <a:ext cx="8138160" cy="82296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In tech, the skill you learn now may be old next year.</a:t>
            </a:r>
            <a:endParaRPr lang="en-US" sz="2800" dirty="0"/>
          </a:p>
        </p:txBody>
      </p:sp>
      <p:sp>
        <p:nvSpPr>
          <p:cNvPr id="9" name="Text 7"/>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 LinkedIn Work Change Report (Jan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The skills employers want keep changing</a:t>
            </a:r>
            <a:endParaRPr lang="en-US" sz="4000" dirty="0"/>
          </a:p>
        </p:txBody>
      </p:sp>
      <p:sp>
        <p:nvSpPr>
          <p:cNvPr id="3" name="Text 1"/>
          <p:cNvSpPr txBox="1"/>
          <p:nvPr/>
        </p:nvSpPr>
        <p:spPr>
          <a:xfrm>
            <a:off x="548640" y="1417320"/>
            <a:ext cx="54864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Tech job posts that ask for the skill</a:t>
            </a:r>
            <a:endParaRPr lang="en-US" sz="2000" dirty="0"/>
          </a:p>
        </p:txBody>
      </p:sp>
      <p:sp>
        <p:nvSpPr>
          <p:cNvPr id="4" name="Text 2"/>
          <p:cNvSpPr txBox="1"/>
          <p:nvPr/>
        </p:nvSpPr>
        <p:spPr>
          <a:xfrm>
            <a:off x="5669280" y="1417320"/>
            <a:ext cx="164592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Arial" pitchFamily="34" charset="0"/>
                <a:ea typeface="Arial" pitchFamily="34" charset="-122"/>
                <a:cs typeface="Arial" pitchFamily="34" charset="-120"/>
              </a:rPr>
              <a:t>2019</a:t>
            </a:r>
            <a:endParaRPr lang="en-US" sz="2200" dirty="0"/>
          </a:p>
        </p:txBody>
      </p:sp>
      <p:sp>
        <p:nvSpPr>
          <p:cNvPr id="5" name="Text 3"/>
          <p:cNvSpPr txBox="1"/>
          <p:nvPr/>
        </p:nvSpPr>
        <p:spPr>
          <a:xfrm>
            <a:off x="7680960" y="1417320"/>
            <a:ext cx="164592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Arial" pitchFamily="34" charset="0"/>
                <a:ea typeface="Arial" pitchFamily="34" charset="-122"/>
                <a:cs typeface="Arial" pitchFamily="34" charset="-120"/>
              </a:rPr>
              <a:t>2026</a:t>
            </a:r>
            <a:endParaRPr lang="en-US" sz="2200" dirty="0"/>
          </a:p>
        </p:txBody>
      </p:sp>
      <p:sp>
        <p:nvSpPr>
          <p:cNvPr id="6" name="Shape 4"/>
          <p:cNvSpPr/>
          <p:nvPr/>
        </p:nvSpPr>
        <p:spPr>
          <a:xfrm>
            <a:off x="548640" y="1965960"/>
            <a:ext cx="11064240" cy="0"/>
          </a:xfrm>
          <a:prstGeom prst="line">
            <a:avLst/>
          </a:prstGeom>
          <a:noFill/>
          <a:ln w="19050">
            <a:solidFill>
              <a:srgbClr val="D6D7D4"/>
            </a:solidFill>
            <a:prstDash val="solid"/>
          </a:ln>
        </p:spPr>
      </p:sp>
      <p:sp>
        <p:nvSpPr>
          <p:cNvPr id="7" name="Text 5"/>
          <p:cNvSpPr txBox="1"/>
          <p:nvPr/>
        </p:nvSpPr>
        <p:spPr>
          <a:xfrm>
            <a:off x="548640" y="2057400"/>
            <a:ext cx="4937760" cy="68580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LLM / GenAI</a:t>
            </a:r>
            <a:endParaRPr lang="en-US" sz="3400" dirty="0"/>
          </a:p>
        </p:txBody>
      </p:sp>
      <p:sp>
        <p:nvSpPr>
          <p:cNvPr id="8" name="Text 6"/>
          <p:cNvSpPr txBox="1"/>
          <p:nvPr/>
        </p:nvSpPr>
        <p:spPr>
          <a:xfrm>
            <a:off x="5669280" y="2057400"/>
            <a:ext cx="1645920" cy="685800"/>
          </a:xfrm>
          <a:prstGeom prst="rect">
            <a:avLst/>
          </a:prstGeom>
          <a:noFill/>
          <a:ln/>
        </p:spPr>
        <p:txBody>
          <a:bodyPr wrap="square" lIns="0" tIns="0" rIns="0" bIns="0" rtlCol="0" anchor="ctr"/>
          <a:lstStyle/>
          <a:p>
            <a:pPr algn="ctr" indent="0" marL="0">
              <a:buNone/>
            </a:pPr>
            <a:r>
              <a:rPr lang="en-US" sz="3400" dirty="0">
                <a:solidFill>
                  <a:schemeClr val="tx2"/>
                </a:solidFill>
                <a:latin typeface="Arial" pitchFamily="34" charset="0"/>
                <a:ea typeface="Arial" pitchFamily="34" charset="-122"/>
                <a:cs typeface="Arial" pitchFamily="34" charset="-120"/>
              </a:rPr>
              <a:t>0%</a:t>
            </a:r>
            <a:endParaRPr lang="en-US" sz="3400" dirty="0"/>
          </a:p>
        </p:txBody>
      </p:sp>
      <p:sp>
        <p:nvSpPr>
          <p:cNvPr id="9" name="Text 7"/>
          <p:cNvSpPr txBox="1"/>
          <p:nvPr/>
        </p:nvSpPr>
        <p:spPr>
          <a:xfrm>
            <a:off x="7223760" y="2057400"/>
            <a:ext cx="548640" cy="685800"/>
          </a:xfrm>
          <a:prstGeom prst="rect">
            <a:avLst/>
          </a:prstGeom>
          <a:noFill/>
          <a:ln/>
        </p:spPr>
        <p:txBody>
          <a:bodyPr wrap="square" lIns="0" tIns="0" rIns="0" bIns="0" rtlCol="0" anchor="ctr"/>
          <a:lstStyle/>
          <a:p>
            <a:pPr algn="ctr" indent="0" marL="0">
              <a:buNone/>
            </a:pPr>
            <a:r>
              <a:rPr lang="en-US" sz="3000" dirty="0">
                <a:solidFill>
                  <a:schemeClr val="tx2"/>
                </a:solidFill>
                <a:latin typeface="Arial" pitchFamily="34" charset="0"/>
                <a:ea typeface="Arial" pitchFamily="34" charset="-122"/>
                <a:cs typeface="Arial" pitchFamily="34" charset="-120"/>
              </a:rPr>
              <a:t>→</a:t>
            </a:r>
            <a:endParaRPr lang="en-US" sz="3000" dirty="0"/>
          </a:p>
        </p:txBody>
      </p:sp>
      <p:sp>
        <p:nvSpPr>
          <p:cNvPr id="10" name="Text 8"/>
          <p:cNvSpPr txBox="1"/>
          <p:nvPr/>
        </p:nvSpPr>
        <p:spPr>
          <a:xfrm>
            <a:off x="7680960" y="2057400"/>
            <a:ext cx="1645920" cy="685800"/>
          </a:xfrm>
          <a:prstGeom prst="rect">
            <a:avLst/>
          </a:prstGeom>
          <a:noFill/>
          <a:ln/>
        </p:spPr>
        <p:txBody>
          <a:bodyPr wrap="square" lIns="0" tIns="0" rIns="0" bIns="0" rtlCol="0" anchor="ctr"/>
          <a:lstStyle/>
          <a:p>
            <a:pPr algn="ctr" indent="0" marL="0">
              <a:buNone/>
            </a:pPr>
            <a:r>
              <a:rPr lang="en-US" sz="4000" b="1" dirty="0">
                <a:solidFill>
                  <a:schemeClr val="accent3"/>
                </a:solidFill>
                <a:latin typeface="Arial" pitchFamily="34" charset="0"/>
                <a:ea typeface="Arial" pitchFamily="34" charset="-122"/>
                <a:cs typeface="Arial" pitchFamily="34" charset="-120"/>
              </a:rPr>
              <a:t>15%</a:t>
            </a:r>
            <a:endParaRPr lang="en-US" sz="4000" dirty="0"/>
          </a:p>
        </p:txBody>
      </p:sp>
      <p:sp>
        <p:nvSpPr>
          <p:cNvPr id="11" name="Text 9"/>
          <p:cNvSpPr txBox="1"/>
          <p:nvPr/>
        </p:nvSpPr>
        <p:spPr>
          <a:xfrm>
            <a:off x="9601200" y="2057400"/>
            <a:ext cx="2011680" cy="685800"/>
          </a:xfrm>
          <a:prstGeom prst="rect">
            <a:avLst/>
          </a:prstGeom>
          <a:noFill/>
          <a:ln/>
        </p:spPr>
        <p:txBody>
          <a:bodyPr wrap="square" lIns="0" tIns="0" rIns="0" bIns="0" rtlCol="0" anchor="ctr"/>
          <a:lstStyle/>
          <a:p>
            <a:pPr indent="0" marL="0">
              <a:buNone/>
            </a:pPr>
            <a:r>
              <a:rPr lang="en-US" sz="2800" b="1" dirty="0">
                <a:solidFill>
                  <a:schemeClr val="accent3"/>
                </a:solidFill>
                <a:latin typeface="Arial" pitchFamily="34" charset="0"/>
                <a:ea typeface="Arial" pitchFamily="34" charset="-122"/>
                <a:cs typeface="Arial" pitchFamily="34" charset="-120"/>
              </a:rPr>
              <a:t>▲ Rising</a:t>
            </a:r>
            <a:endParaRPr lang="en-US" sz="2800" dirty="0"/>
          </a:p>
        </p:txBody>
      </p:sp>
      <p:sp>
        <p:nvSpPr>
          <p:cNvPr id="12" name="Shape 10"/>
          <p:cNvSpPr/>
          <p:nvPr/>
        </p:nvSpPr>
        <p:spPr>
          <a:xfrm>
            <a:off x="548640" y="2834640"/>
            <a:ext cx="11064240" cy="0"/>
          </a:xfrm>
          <a:prstGeom prst="line">
            <a:avLst/>
          </a:prstGeom>
          <a:noFill/>
          <a:ln w="19050">
            <a:solidFill>
              <a:srgbClr val="D6D7D4"/>
            </a:solidFill>
            <a:prstDash val="solid"/>
          </a:ln>
        </p:spPr>
      </p:sp>
      <p:sp>
        <p:nvSpPr>
          <p:cNvPr id="13" name="Text 11"/>
          <p:cNvSpPr txBox="1"/>
          <p:nvPr/>
        </p:nvSpPr>
        <p:spPr>
          <a:xfrm>
            <a:off x="548640" y="2926080"/>
            <a:ext cx="4937760" cy="68580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TypeScript</a:t>
            </a:r>
            <a:endParaRPr lang="en-US" sz="3400" dirty="0"/>
          </a:p>
        </p:txBody>
      </p:sp>
      <p:sp>
        <p:nvSpPr>
          <p:cNvPr id="14" name="Text 12"/>
          <p:cNvSpPr txBox="1"/>
          <p:nvPr/>
        </p:nvSpPr>
        <p:spPr>
          <a:xfrm>
            <a:off x="5669280" y="2926080"/>
            <a:ext cx="1645920" cy="685800"/>
          </a:xfrm>
          <a:prstGeom prst="rect">
            <a:avLst/>
          </a:prstGeom>
          <a:noFill/>
          <a:ln/>
        </p:spPr>
        <p:txBody>
          <a:bodyPr wrap="square" lIns="0" tIns="0" rIns="0" bIns="0" rtlCol="0" anchor="ctr"/>
          <a:lstStyle/>
          <a:p>
            <a:pPr algn="ctr" indent="0" marL="0">
              <a:buNone/>
            </a:pPr>
            <a:r>
              <a:rPr lang="en-US" sz="3400" dirty="0">
                <a:solidFill>
                  <a:schemeClr val="tx2"/>
                </a:solidFill>
                <a:latin typeface="Arial" pitchFamily="34" charset="0"/>
                <a:ea typeface="Arial" pitchFamily="34" charset="-122"/>
                <a:cs typeface="Arial" pitchFamily="34" charset="-120"/>
              </a:rPr>
              <a:t>10%</a:t>
            </a:r>
            <a:endParaRPr lang="en-US" sz="3400" dirty="0"/>
          </a:p>
        </p:txBody>
      </p:sp>
      <p:sp>
        <p:nvSpPr>
          <p:cNvPr id="15" name="Text 13"/>
          <p:cNvSpPr txBox="1"/>
          <p:nvPr/>
        </p:nvSpPr>
        <p:spPr>
          <a:xfrm>
            <a:off x="7223760" y="2926080"/>
            <a:ext cx="548640" cy="685800"/>
          </a:xfrm>
          <a:prstGeom prst="rect">
            <a:avLst/>
          </a:prstGeom>
          <a:noFill/>
          <a:ln/>
        </p:spPr>
        <p:txBody>
          <a:bodyPr wrap="square" lIns="0" tIns="0" rIns="0" bIns="0" rtlCol="0" anchor="ctr"/>
          <a:lstStyle/>
          <a:p>
            <a:pPr algn="ctr" indent="0" marL="0">
              <a:buNone/>
            </a:pPr>
            <a:r>
              <a:rPr lang="en-US" sz="3000" dirty="0">
                <a:solidFill>
                  <a:schemeClr val="tx2"/>
                </a:solidFill>
                <a:latin typeface="Arial" pitchFamily="34" charset="0"/>
                <a:ea typeface="Arial" pitchFamily="34" charset="-122"/>
                <a:cs typeface="Arial" pitchFamily="34" charset="-120"/>
              </a:rPr>
              <a:t>→</a:t>
            </a:r>
            <a:endParaRPr lang="en-US" sz="3000" dirty="0"/>
          </a:p>
        </p:txBody>
      </p:sp>
      <p:sp>
        <p:nvSpPr>
          <p:cNvPr id="16" name="Text 14"/>
          <p:cNvSpPr txBox="1"/>
          <p:nvPr/>
        </p:nvSpPr>
        <p:spPr>
          <a:xfrm>
            <a:off x="7680960" y="2926080"/>
            <a:ext cx="1645920" cy="685800"/>
          </a:xfrm>
          <a:prstGeom prst="rect">
            <a:avLst/>
          </a:prstGeom>
          <a:noFill/>
          <a:ln/>
        </p:spPr>
        <p:txBody>
          <a:bodyPr wrap="square" lIns="0" tIns="0" rIns="0" bIns="0" rtlCol="0" anchor="ctr"/>
          <a:lstStyle/>
          <a:p>
            <a:pPr algn="ctr" indent="0" marL="0">
              <a:buNone/>
            </a:pPr>
            <a:r>
              <a:rPr lang="en-US" sz="4000" b="1" dirty="0">
                <a:solidFill>
                  <a:schemeClr val="accent3"/>
                </a:solidFill>
                <a:latin typeface="Arial" pitchFamily="34" charset="0"/>
                <a:ea typeface="Arial" pitchFamily="34" charset="-122"/>
                <a:cs typeface="Arial" pitchFamily="34" charset="-120"/>
              </a:rPr>
              <a:t>24%</a:t>
            </a:r>
            <a:endParaRPr lang="en-US" sz="4000" dirty="0"/>
          </a:p>
        </p:txBody>
      </p:sp>
      <p:sp>
        <p:nvSpPr>
          <p:cNvPr id="17" name="Text 15"/>
          <p:cNvSpPr txBox="1"/>
          <p:nvPr/>
        </p:nvSpPr>
        <p:spPr>
          <a:xfrm>
            <a:off x="9601200" y="2926080"/>
            <a:ext cx="2011680" cy="685800"/>
          </a:xfrm>
          <a:prstGeom prst="rect">
            <a:avLst/>
          </a:prstGeom>
          <a:noFill/>
          <a:ln/>
        </p:spPr>
        <p:txBody>
          <a:bodyPr wrap="square" lIns="0" tIns="0" rIns="0" bIns="0" rtlCol="0" anchor="ctr"/>
          <a:lstStyle/>
          <a:p>
            <a:pPr indent="0" marL="0">
              <a:buNone/>
            </a:pPr>
            <a:r>
              <a:rPr lang="en-US" sz="2800" b="1" dirty="0">
                <a:solidFill>
                  <a:schemeClr val="accent3"/>
                </a:solidFill>
                <a:latin typeface="Arial" pitchFamily="34" charset="0"/>
                <a:ea typeface="Arial" pitchFamily="34" charset="-122"/>
                <a:cs typeface="Arial" pitchFamily="34" charset="-120"/>
              </a:rPr>
              <a:t>▲ Rising</a:t>
            </a:r>
            <a:endParaRPr lang="en-US" sz="2800" dirty="0"/>
          </a:p>
        </p:txBody>
      </p:sp>
      <p:sp>
        <p:nvSpPr>
          <p:cNvPr id="18" name="Shape 16"/>
          <p:cNvSpPr/>
          <p:nvPr/>
        </p:nvSpPr>
        <p:spPr>
          <a:xfrm>
            <a:off x="548640" y="3703320"/>
            <a:ext cx="11064240" cy="0"/>
          </a:xfrm>
          <a:prstGeom prst="line">
            <a:avLst/>
          </a:prstGeom>
          <a:noFill/>
          <a:ln w="19050">
            <a:solidFill>
              <a:srgbClr val="D6D7D4"/>
            </a:solidFill>
            <a:prstDash val="solid"/>
          </a:ln>
        </p:spPr>
      </p:sp>
      <p:sp>
        <p:nvSpPr>
          <p:cNvPr id="19" name="Text 17"/>
          <p:cNvSpPr txBox="1"/>
          <p:nvPr/>
        </p:nvSpPr>
        <p:spPr>
          <a:xfrm>
            <a:off x="548640" y="3794760"/>
            <a:ext cx="4937760" cy="68580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Java</a:t>
            </a:r>
            <a:endParaRPr lang="en-US" sz="3400" dirty="0"/>
          </a:p>
        </p:txBody>
      </p:sp>
      <p:sp>
        <p:nvSpPr>
          <p:cNvPr id="20" name="Text 18"/>
          <p:cNvSpPr txBox="1"/>
          <p:nvPr/>
        </p:nvSpPr>
        <p:spPr>
          <a:xfrm>
            <a:off x="5669280" y="3794760"/>
            <a:ext cx="1645920" cy="685800"/>
          </a:xfrm>
          <a:prstGeom prst="rect">
            <a:avLst/>
          </a:prstGeom>
          <a:noFill/>
          <a:ln/>
        </p:spPr>
        <p:txBody>
          <a:bodyPr wrap="square" lIns="0" tIns="0" rIns="0" bIns="0" rtlCol="0" anchor="ctr"/>
          <a:lstStyle/>
          <a:p>
            <a:pPr algn="ctr" indent="0" marL="0">
              <a:buNone/>
            </a:pPr>
            <a:r>
              <a:rPr lang="en-US" sz="3400" dirty="0">
                <a:solidFill>
                  <a:schemeClr val="tx2"/>
                </a:solidFill>
                <a:latin typeface="Arial" pitchFamily="34" charset="0"/>
                <a:ea typeface="Arial" pitchFamily="34" charset="-122"/>
                <a:cs typeface="Arial" pitchFamily="34" charset="-120"/>
              </a:rPr>
              <a:t>11%</a:t>
            </a:r>
            <a:endParaRPr lang="en-US" sz="3400" dirty="0"/>
          </a:p>
        </p:txBody>
      </p:sp>
      <p:sp>
        <p:nvSpPr>
          <p:cNvPr id="21" name="Text 19"/>
          <p:cNvSpPr txBox="1"/>
          <p:nvPr/>
        </p:nvSpPr>
        <p:spPr>
          <a:xfrm>
            <a:off x="7223760" y="3794760"/>
            <a:ext cx="548640" cy="685800"/>
          </a:xfrm>
          <a:prstGeom prst="rect">
            <a:avLst/>
          </a:prstGeom>
          <a:noFill/>
          <a:ln/>
        </p:spPr>
        <p:txBody>
          <a:bodyPr wrap="square" lIns="0" tIns="0" rIns="0" bIns="0" rtlCol="0" anchor="ctr"/>
          <a:lstStyle/>
          <a:p>
            <a:pPr algn="ctr" indent="0" marL="0">
              <a:buNone/>
            </a:pPr>
            <a:r>
              <a:rPr lang="en-US" sz="3000" dirty="0">
                <a:solidFill>
                  <a:schemeClr val="tx2"/>
                </a:solidFill>
                <a:latin typeface="Arial" pitchFamily="34" charset="0"/>
                <a:ea typeface="Arial" pitchFamily="34" charset="-122"/>
                <a:cs typeface="Arial" pitchFamily="34" charset="-120"/>
              </a:rPr>
              <a:t>→</a:t>
            </a:r>
            <a:endParaRPr lang="en-US" sz="3000" dirty="0"/>
          </a:p>
        </p:txBody>
      </p:sp>
      <p:sp>
        <p:nvSpPr>
          <p:cNvPr id="22" name="Text 20"/>
          <p:cNvSpPr txBox="1"/>
          <p:nvPr/>
        </p:nvSpPr>
        <p:spPr>
          <a:xfrm>
            <a:off x="7680960" y="3794760"/>
            <a:ext cx="1645920" cy="685800"/>
          </a:xfrm>
          <a:prstGeom prst="rect">
            <a:avLst/>
          </a:prstGeom>
          <a:noFill/>
          <a:ln/>
        </p:spPr>
        <p:txBody>
          <a:bodyPr wrap="square" lIns="0" tIns="0" rIns="0" bIns="0" rtlCol="0" anchor="ctr"/>
          <a:lstStyle/>
          <a:p>
            <a:pPr algn="ctr" indent="0" marL="0">
              <a:buNone/>
            </a:pPr>
            <a:r>
              <a:rPr lang="en-US" sz="4000" b="1" dirty="0">
                <a:solidFill>
                  <a:schemeClr val="accent4"/>
                </a:solidFill>
                <a:latin typeface="Arial" pitchFamily="34" charset="0"/>
                <a:ea typeface="Arial" pitchFamily="34" charset="-122"/>
                <a:cs typeface="Arial" pitchFamily="34" charset="-120"/>
              </a:rPr>
              <a:t>4%</a:t>
            </a:r>
            <a:endParaRPr lang="en-US" sz="4000" dirty="0"/>
          </a:p>
        </p:txBody>
      </p:sp>
      <p:sp>
        <p:nvSpPr>
          <p:cNvPr id="23" name="Text 21"/>
          <p:cNvSpPr txBox="1"/>
          <p:nvPr/>
        </p:nvSpPr>
        <p:spPr>
          <a:xfrm>
            <a:off x="9601200" y="3794760"/>
            <a:ext cx="2011680" cy="685800"/>
          </a:xfrm>
          <a:prstGeom prst="rect">
            <a:avLst/>
          </a:prstGeom>
          <a:noFill/>
          <a:ln/>
        </p:spPr>
        <p:txBody>
          <a:bodyPr wrap="square" lIns="0" tIns="0" rIns="0" bIns="0" rtlCol="0" anchor="ctr"/>
          <a:lstStyle/>
          <a:p>
            <a:pPr indent="0" marL="0">
              <a:buNone/>
            </a:pPr>
            <a:r>
              <a:rPr lang="en-US" sz="2800" b="1" dirty="0">
                <a:solidFill>
                  <a:schemeClr val="accent4"/>
                </a:solidFill>
                <a:latin typeface="Arial" pitchFamily="34" charset="0"/>
                <a:ea typeface="Arial" pitchFamily="34" charset="-122"/>
                <a:cs typeface="Arial" pitchFamily="34" charset="-120"/>
              </a:rPr>
              <a:t>▼ Falling</a:t>
            </a:r>
            <a:endParaRPr lang="en-US" sz="2800" dirty="0"/>
          </a:p>
        </p:txBody>
      </p:sp>
      <p:sp>
        <p:nvSpPr>
          <p:cNvPr id="24" name="Shape 22"/>
          <p:cNvSpPr/>
          <p:nvPr/>
        </p:nvSpPr>
        <p:spPr>
          <a:xfrm>
            <a:off x="548640" y="4572000"/>
            <a:ext cx="11064240" cy="0"/>
          </a:xfrm>
          <a:prstGeom prst="line">
            <a:avLst/>
          </a:prstGeom>
          <a:noFill/>
          <a:ln w="19050">
            <a:solidFill>
              <a:srgbClr val="D6D7D4"/>
            </a:solidFill>
            <a:prstDash val="solid"/>
          </a:ln>
        </p:spPr>
      </p:sp>
      <p:sp>
        <p:nvSpPr>
          <p:cNvPr id="25" name="Text 23"/>
          <p:cNvSpPr txBox="1"/>
          <p:nvPr/>
        </p:nvSpPr>
        <p:spPr>
          <a:xfrm>
            <a:off x="548640" y="4663440"/>
            <a:ext cx="4937760" cy="68580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Ruby</a:t>
            </a:r>
            <a:endParaRPr lang="en-US" sz="3400" dirty="0"/>
          </a:p>
        </p:txBody>
      </p:sp>
      <p:sp>
        <p:nvSpPr>
          <p:cNvPr id="26" name="Text 24"/>
          <p:cNvSpPr txBox="1"/>
          <p:nvPr/>
        </p:nvSpPr>
        <p:spPr>
          <a:xfrm>
            <a:off x="5669280" y="4663440"/>
            <a:ext cx="1645920" cy="685800"/>
          </a:xfrm>
          <a:prstGeom prst="rect">
            <a:avLst/>
          </a:prstGeom>
          <a:noFill/>
          <a:ln/>
        </p:spPr>
        <p:txBody>
          <a:bodyPr wrap="square" lIns="0" tIns="0" rIns="0" bIns="0" rtlCol="0" anchor="ctr"/>
          <a:lstStyle/>
          <a:p>
            <a:pPr algn="ctr" indent="0" marL="0">
              <a:buNone/>
            </a:pPr>
            <a:r>
              <a:rPr lang="en-US" sz="3400" dirty="0">
                <a:solidFill>
                  <a:schemeClr val="tx2"/>
                </a:solidFill>
                <a:latin typeface="Arial" pitchFamily="34" charset="0"/>
                <a:ea typeface="Arial" pitchFamily="34" charset="-122"/>
                <a:cs typeface="Arial" pitchFamily="34" charset="-120"/>
              </a:rPr>
              <a:t>10%</a:t>
            </a:r>
            <a:endParaRPr lang="en-US" sz="3400" dirty="0"/>
          </a:p>
        </p:txBody>
      </p:sp>
      <p:sp>
        <p:nvSpPr>
          <p:cNvPr id="27" name="Text 25"/>
          <p:cNvSpPr txBox="1"/>
          <p:nvPr/>
        </p:nvSpPr>
        <p:spPr>
          <a:xfrm>
            <a:off x="7223760" y="4663440"/>
            <a:ext cx="548640" cy="685800"/>
          </a:xfrm>
          <a:prstGeom prst="rect">
            <a:avLst/>
          </a:prstGeom>
          <a:noFill/>
          <a:ln/>
        </p:spPr>
        <p:txBody>
          <a:bodyPr wrap="square" lIns="0" tIns="0" rIns="0" bIns="0" rtlCol="0" anchor="ctr"/>
          <a:lstStyle/>
          <a:p>
            <a:pPr algn="ctr" indent="0" marL="0">
              <a:buNone/>
            </a:pPr>
            <a:r>
              <a:rPr lang="en-US" sz="3000" dirty="0">
                <a:solidFill>
                  <a:schemeClr val="tx2"/>
                </a:solidFill>
                <a:latin typeface="Arial" pitchFamily="34" charset="0"/>
                <a:ea typeface="Arial" pitchFamily="34" charset="-122"/>
                <a:cs typeface="Arial" pitchFamily="34" charset="-120"/>
              </a:rPr>
              <a:t>→</a:t>
            </a:r>
            <a:endParaRPr lang="en-US" sz="3000" dirty="0"/>
          </a:p>
        </p:txBody>
      </p:sp>
      <p:sp>
        <p:nvSpPr>
          <p:cNvPr id="28" name="Text 26"/>
          <p:cNvSpPr txBox="1"/>
          <p:nvPr/>
        </p:nvSpPr>
        <p:spPr>
          <a:xfrm>
            <a:off x="7680960" y="4663440"/>
            <a:ext cx="1645920" cy="685800"/>
          </a:xfrm>
          <a:prstGeom prst="rect">
            <a:avLst/>
          </a:prstGeom>
          <a:noFill/>
          <a:ln/>
        </p:spPr>
        <p:txBody>
          <a:bodyPr wrap="square" lIns="0" tIns="0" rIns="0" bIns="0" rtlCol="0" anchor="ctr"/>
          <a:lstStyle/>
          <a:p>
            <a:pPr algn="ctr" indent="0" marL="0">
              <a:buNone/>
            </a:pPr>
            <a:r>
              <a:rPr lang="en-US" sz="4000" b="1" dirty="0">
                <a:solidFill>
                  <a:schemeClr val="accent4"/>
                </a:solidFill>
                <a:latin typeface="Arial" pitchFamily="34" charset="0"/>
                <a:ea typeface="Arial" pitchFamily="34" charset="-122"/>
                <a:cs typeface="Arial" pitchFamily="34" charset="-120"/>
              </a:rPr>
              <a:t>3%</a:t>
            </a:r>
            <a:endParaRPr lang="en-US" sz="4000" dirty="0"/>
          </a:p>
        </p:txBody>
      </p:sp>
      <p:sp>
        <p:nvSpPr>
          <p:cNvPr id="29" name="Text 27"/>
          <p:cNvSpPr txBox="1"/>
          <p:nvPr/>
        </p:nvSpPr>
        <p:spPr>
          <a:xfrm>
            <a:off x="9601200" y="4663440"/>
            <a:ext cx="2011680" cy="685800"/>
          </a:xfrm>
          <a:prstGeom prst="rect">
            <a:avLst/>
          </a:prstGeom>
          <a:noFill/>
          <a:ln/>
        </p:spPr>
        <p:txBody>
          <a:bodyPr wrap="square" lIns="0" tIns="0" rIns="0" bIns="0" rtlCol="0" anchor="ctr"/>
          <a:lstStyle/>
          <a:p>
            <a:pPr indent="0" marL="0">
              <a:buNone/>
            </a:pPr>
            <a:r>
              <a:rPr lang="en-US" sz="2800" b="1" dirty="0">
                <a:solidFill>
                  <a:schemeClr val="accent4"/>
                </a:solidFill>
                <a:latin typeface="Arial" pitchFamily="34" charset="0"/>
                <a:ea typeface="Arial" pitchFamily="34" charset="-122"/>
                <a:cs typeface="Arial" pitchFamily="34" charset="-120"/>
              </a:rPr>
              <a:t>▼ Falling</a:t>
            </a:r>
            <a:endParaRPr lang="en-US" sz="2800" dirty="0"/>
          </a:p>
        </p:txBody>
      </p:sp>
      <p:sp>
        <p:nvSpPr>
          <p:cNvPr id="30" name="Shape 28"/>
          <p:cNvSpPr/>
          <p:nvPr/>
        </p:nvSpPr>
        <p:spPr>
          <a:xfrm>
            <a:off x="548640" y="5440680"/>
            <a:ext cx="11064240" cy="0"/>
          </a:xfrm>
          <a:prstGeom prst="line">
            <a:avLst/>
          </a:prstGeom>
          <a:noFill/>
          <a:ln w="19050">
            <a:solidFill>
              <a:srgbClr val="D6D7D4"/>
            </a:solidFill>
            <a:prstDash val="solid"/>
          </a:ln>
        </p:spPr>
      </p:sp>
      <p:sp>
        <p:nvSpPr>
          <p:cNvPr id="31" name="Text 29"/>
          <p:cNvSpPr txBox="1"/>
          <p:nvPr/>
        </p:nvSpPr>
        <p:spPr>
          <a:xfrm>
            <a:off x="548640" y="5577840"/>
            <a:ext cx="11064240" cy="64008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Java still works. Far fewer new jobs ask for it.</a:t>
            </a:r>
            <a:endParaRPr lang="en-US" sz="3000" dirty="0"/>
          </a:p>
        </p:txBody>
      </p:sp>
      <p:sp>
        <p:nvSpPr>
          <p:cNvPr id="32" name="Text 30"/>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 Varity analysis of 48,491 Hacker News "Who is hiring" posts (share of posts naming the skill, 2019 vs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AI hits computer work first</a:t>
            </a:r>
            <a:endParaRPr lang="en-US" sz="4000" dirty="0"/>
          </a:p>
        </p:txBody>
      </p:sp>
      <p:graphicFrame>
        <p:nvGraphicFramePr>
          <p:cNvPr id="3" name="Chart 0" descr=""/>
          <p:cNvGraphicFramePr/>
          <p:nvPr/>
        </p:nvGraphicFramePr>
        <p:xfrm>
          <a:off x="548640" y="1463040"/>
          <a:ext cx="722376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0" y="1645920"/>
            <a:ext cx="3520440" cy="1097280"/>
          </a:xfrm>
          <a:prstGeom prst="rect">
            <a:avLst/>
          </a:prstGeom>
          <a:noFill/>
          <a:ln/>
        </p:spPr>
        <p:txBody>
          <a:bodyPr wrap="square" lIns="0" tIns="0" rIns="0" bIns="0" rtlCol="0" anchor="ctr"/>
          <a:lstStyle/>
          <a:p>
            <a:pPr indent="0" marL="0">
              <a:buNone/>
            </a:pPr>
            <a:r>
              <a:rPr lang="en-US" sz="8000" b="1" dirty="0">
                <a:solidFill>
                  <a:schemeClr val="accent4"/>
                </a:solidFill>
                <a:latin typeface="Arial" pitchFamily="34" charset="0"/>
                <a:ea typeface="Arial" pitchFamily="34" charset="-122"/>
                <a:cs typeface="Arial" pitchFamily="34" charset="-120"/>
              </a:rPr>
              <a:t>33%</a:t>
            </a:r>
            <a:endParaRPr lang="en-US" sz="8000" dirty="0"/>
          </a:p>
        </p:txBody>
      </p:sp>
      <p:sp>
        <p:nvSpPr>
          <p:cNvPr id="5" name="Text 2"/>
          <p:cNvSpPr txBox="1"/>
          <p:nvPr/>
        </p:nvSpPr>
        <p:spPr>
          <a:xfrm>
            <a:off x="8138160" y="2788920"/>
            <a:ext cx="3520440" cy="118872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of computer work is already done with AI. The most of any field.</a:t>
            </a:r>
            <a:endParaRPr lang="en-US" sz="2200" dirty="0"/>
          </a:p>
        </p:txBody>
      </p:sp>
      <p:sp>
        <p:nvSpPr>
          <p:cNvPr id="6" name="Text 3"/>
          <p:cNvSpPr txBox="1"/>
          <p:nvPr/>
        </p:nvSpPr>
        <p:spPr>
          <a:xfrm>
            <a:off x="8138160" y="4069080"/>
            <a:ext cx="3520440" cy="1097280"/>
          </a:xfrm>
          <a:prstGeom prst="rect">
            <a:avLst/>
          </a:prstGeom>
          <a:noFill/>
          <a:ln/>
        </p:spPr>
        <p:txBody>
          <a:bodyPr wrap="square" lIns="0" tIns="0" rIns="0" bIns="0" rtlCol="0" anchor="ctr"/>
          <a:lstStyle/>
          <a:p>
            <a:pPr indent="0" marL="0">
              <a:buNone/>
            </a:pPr>
            <a:r>
              <a:rPr lang="en-US" sz="8000" b="1" dirty="0">
                <a:solidFill>
                  <a:schemeClr val="accent4"/>
                </a:solidFill>
                <a:latin typeface="Arial" pitchFamily="34" charset="0"/>
                <a:ea typeface="Arial" pitchFamily="34" charset="-122"/>
                <a:cs typeface="Arial" pitchFamily="34" charset="-120"/>
              </a:rPr>
              <a:t>75%</a:t>
            </a:r>
            <a:endParaRPr lang="en-US" sz="8000" dirty="0"/>
          </a:p>
        </p:txBody>
      </p:sp>
      <p:sp>
        <p:nvSpPr>
          <p:cNvPr id="7" name="Text 4"/>
          <p:cNvSpPr txBox="1"/>
          <p:nvPr/>
        </p:nvSpPr>
        <p:spPr>
          <a:xfrm>
            <a:off x="8138160" y="5212080"/>
            <a:ext cx="3520440" cy="82296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for computer programmers. No job is higher.</a:t>
            </a:r>
            <a:endParaRPr lang="en-US" sz="2200" dirty="0"/>
          </a:p>
        </p:txBody>
      </p:sp>
      <p:sp>
        <p:nvSpPr>
          <p:cNvPr id="8" name="Text 5"/>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 Anthropic, Labor market impacts of AI (5 Mar 2026): theoretical vs observed AI coverage of tasks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Tech graduates feel it first</a:t>
            </a:r>
            <a:endParaRPr lang="en-US" sz="4000" dirty="0"/>
          </a:p>
        </p:txBody>
      </p:sp>
      <p:sp>
        <p:nvSpPr>
          <p:cNvPr id="3" name="Text 1"/>
          <p:cNvSpPr txBox="1"/>
          <p:nvPr/>
        </p:nvSpPr>
        <p:spPr>
          <a:xfrm>
            <a:off x="548640" y="1737360"/>
            <a:ext cx="3566160" cy="1463040"/>
          </a:xfrm>
          <a:prstGeom prst="rect">
            <a:avLst/>
          </a:prstGeom>
          <a:noFill/>
          <a:ln/>
        </p:spPr>
        <p:txBody>
          <a:bodyPr wrap="square" lIns="0" tIns="0" rIns="0" bIns="0" rtlCol="0" anchor="ctr"/>
          <a:lstStyle/>
          <a:p>
            <a:pPr indent="0" marL="0">
              <a:buNone/>
            </a:pPr>
            <a:r>
              <a:rPr lang="en-US" sz="9600" b="1" dirty="0">
                <a:solidFill>
                  <a:schemeClr val="accent4"/>
                </a:solidFill>
                <a:latin typeface="Arial" pitchFamily="34" charset="0"/>
                <a:ea typeface="Arial" pitchFamily="34" charset="-122"/>
                <a:cs typeface="Arial" pitchFamily="34" charset="-120"/>
              </a:rPr>
              <a:t>7%</a:t>
            </a:r>
            <a:endParaRPr lang="en-US" sz="9600" dirty="0"/>
          </a:p>
        </p:txBody>
      </p:sp>
      <p:sp>
        <p:nvSpPr>
          <p:cNvPr id="4" name="Text 2"/>
          <p:cNvSpPr txBox="1"/>
          <p:nvPr/>
        </p:nvSpPr>
        <p:spPr>
          <a:xfrm>
            <a:off x="548640" y="3474720"/>
            <a:ext cx="3291840" cy="137160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of new computer science graduates have no job.</a:t>
            </a:r>
            <a:endParaRPr lang="en-US" sz="2800" dirty="0"/>
          </a:p>
        </p:txBody>
      </p:sp>
      <p:sp>
        <p:nvSpPr>
          <p:cNvPr id="5" name="Text 3"/>
          <p:cNvSpPr txBox="1"/>
          <p:nvPr/>
        </p:nvSpPr>
        <p:spPr>
          <a:xfrm>
            <a:off x="4297680" y="1737360"/>
            <a:ext cx="3566160" cy="1463040"/>
          </a:xfrm>
          <a:prstGeom prst="rect">
            <a:avLst/>
          </a:prstGeom>
          <a:noFill/>
          <a:ln/>
        </p:spPr>
        <p:txBody>
          <a:bodyPr wrap="square" lIns="0" tIns="0" rIns="0" bIns="0" rtlCol="0" anchor="ctr"/>
          <a:lstStyle/>
          <a:p>
            <a:pPr indent="0" marL="0">
              <a:buNone/>
            </a:pPr>
            <a:r>
              <a:rPr lang="en-US" sz="9600" b="1" dirty="0">
                <a:solidFill>
                  <a:schemeClr val="accent4"/>
                </a:solidFill>
                <a:latin typeface="Arial" pitchFamily="34" charset="0"/>
                <a:ea typeface="Arial" pitchFamily="34" charset="-122"/>
                <a:cs typeface="Arial" pitchFamily="34" charset="-120"/>
              </a:rPr>
              <a:t>−20%</a:t>
            </a:r>
            <a:endParaRPr lang="en-US" sz="9600" dirty="0"/>
          </a:p>
        </p:txBody>
      </p:sp>
      <p:sp>
        <p:nvSpPr>
          <p:cNvPr id="6" name="Text 4"/>
          <p:cNvSpPr txBox="1"/>
          <p:nvPr/>
        </p:nvSpPr>
        <p:spPr>
          <a:xfrm>
            <a:off x="4297680" y="3474720"/>
            <a:ext cx="3291840" cy="137160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young software developers in work since 2022.</a:t>
            </a:r>
            <a:endParaRPr lang="en-US" sz="2800" dirty="0"/>
          </a:p>
        </p:txBody>
      </p:sp>
      <p:sp>
        <p:nvSpPr>
          <p:cNvPr id="7" name="Text 5"/>
          <p:cNvSpPr txBox="1"/>
          <p:nvPr/>
        </p:nvSpPr>
        <p:spPr>
          <a:xfrm>
            <a:off x="8046720" y="1737360"/>
            <a:ext cx="3566160" cy="1463040"/>
          </a:xfrm>
          <a:prstGeom prst="rect">
            <a:avLst/>
          </a:prstGeom>
          <a:noFill/>
          <a:ln/>
        </p:spPr>
        <p:txBody>
          <a:bodyPr wrap="square" lIns="0" tIns="0" rIns="0" bIns="0" rtlCol="0" anchor="ctr"/>
          <a:lstStyle/>
          <a:p>
            <a:pPr indent="0" marL="0">
              <a:buNone/>
            </a:pPr>
            <a:r>
              <a:rPr lang="en-US" sz="9600" b="1" dirty="0">
                <a:solidFill>
                  <a:schemeClr val="accent4"/>
                </a:solidFill>
                <a:latin typeface="Arial" pitchFamily="34" charset="0"/>
                <a:ea typeface="Arial" pitchFamily="34" charset="-122"/>
                <a:cs typeface="Arial" pitchFamily="34" charset="-120"/>
              </a:rPr>
              <a:t>38%</a:t>
            </a:r>
            <a:endParaRPr lang="en-US" sz="9600" dirty="0"/>
          </a:p>
        </p:txBody>
      </p:sp>
      <p:sp>
        <p:nvSpPr>
          <p:cNvPr id="8" name="Text 6"/>
          <p:cNvSpPr txBox="1"/>
          <p:nvPr/>
        </p:nvSpPr>
        <p:spPr>
          <a:xfrm>
            <a:off x="8046720" y="3474720"/>
            <a:ext cx="3291840" cy="137160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of tech leaders cut junior hiring.</a:t>
            </a:r>
            <a:endParaRPr lang="en-US" sz="2800" dirty="0"/>
          </a:p>
        </p:txBody>
      </p:sp>
      <p:sp>
        <p:nvSpPr>
          <p:cNvPr id="9" name="Text 7"/>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(US): NY Fed, recent graduates by major (Feb 2026); Stanford Digital Economy Lab (Aug 2025); CodePath survey (Fortune, Dec 2025)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Who we help</a:t>
            </a:r>
            <a:endParaRPr lang="en-US" sz="4000" dirty="0"/>
          </a:p>
        </p:txBody>
      </p:sp>
      <p:sp>
        <p:nvSpPr>
          <p:cNvPr id="3" name="Shape 1"/>
          <p:cNvSpPr/>
          <p:nvPr/>
        </p:nvSpPr>
        <p:spPr>
          <a:xfrm>
            <a:off x="548640" y="1645920"/>
            <a:ext cx="5669280" cy="914400"/>
          </a:xfrm>
          <a:prstGeom prst="roundRect">
            <a:avLst>
              <a:gd name="adj" fmla="val 50000"/>
            </a:avLst>
          </a:prstGeom>
          <a:solidFill>
            <a:srgbClr val="FFFFFF"/>
          </a:solidFill>
          <a:ln w="38100">
            <a:solidFill>
              <a:srgbClr val="121212"/>
            </a:solidFill>
            <a:prstDash val="solid"/>
          </a:ln>
        </p:spPr>
      </p:sp>
      <p:sp>
        <p:nvSpPr>
          <p:cNvPr id="4" name="Text 2"/>
          <p:cNvSpPr txBox="1"/>
          <p:nvPr/>
        </p:nvSpPr>
        <p:spPr>
          <a:xfrm>
            <a:off x="868680" y="1645920"/>
            <a:ext cx="5212080" cy="91440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Fresh CS graduates</a:t>
            </a:r>
            <a:endParaRPr lang="en-US" sz="3000" dirty="0"/>
          </a:p>
        </p:txBody>
      </p:sp>
      <p:sp>
        <p:nvSpPr>
          <p:cNvPr id="5" name="Text 3"/>
          <p:cNvSpPr txBox="1"/>
          <p:nvPr/>
        </p:nvSpPr>
        <p:spPr>
          <a:xfrm>
            <a:off x="6583680" y="1645920"/>
            <a:ext cx="5029200" cy="914400"/>
          </a:xfrm>
          <a:prstGeom prst="rect">
            <a:avLst/>
          </a:prstGeom>
          <a:noFill/>
          <a:ln/>
        </p:spPr>
        <p:txBody>
          <a:bodyPr wrap="square" lIns="0" tIns="0" rIns="0" bIns="0" rtlCol="0" anchor="ctr"/>
          <a:lstStyle/>
          <a:p>
            <a:pPr indent="0" marL="0">
              <a:buNone/>
            </a:pPr>
            <a:r>
              <a:rPr lang="en-US" sz="2800" dirty="0">
                <a:solidFill>
                  <a:schemeClr val="tx2"/>
                </a:solidFill>
                <a:latin typeface="Arial" pitchFamily="34" charset="0"/>
                <a:ea typeface="Arial" pitchFamily="34" charset="-122"/>
                <a:cs typeface="Arial" pitchFamily="34" charset="-120"/>
              </a:rPr>
              <a:t>Looking for a first job</a:t>
            </a:r>
            <a:endParaRPr lang="en-US" sz="2800" dirty="0"/>
          </a:p>
        </p:txBody>
      </p:sp>
      <p:sp>
        <p:nvSpPr>
          <p:cNvPr id="6" name="Shape 4"/>
          <p:cNvSpPr/>
          <p:nvPr/>
        </p:nvSpPr>
        <p:spPr>
          <a:xfrm>
            <a:off x="548640" y="2971800"/>
            <a:ext cx="5669280" cy="914400"/>
          </a:xfrm>
          <a:prstGeom prst="roundRect">
            <a:avLst>
              <a:gd name="adj" fmla="val 50000"/>
            </a:avLst>
          </a:prstGeom>
          <a:solidFill>
            <a:srgbClr val="FFFFFF"/>
          </a:solidFill>
          <a:ln w="38100">
            <a:solidFill>
              <a:srgbClr val="121212"/>
            </a:solidFill>
            <a:prstDash val="solid"/>
          </a:ln>
        </p:spPr>
      </p:sp>
      <p:sp>
        <p:nvSpPr>
          <p:cNvPr id="7" name="Text 5"/>
          <p:cNvSpPr txBox="1"/>
          <p:nvPr/>
        </p:nvSpPr>
        <p:spPr>
          <a:xfrm>
            <a:off x="868680" y="2971800"/>
            <a:ext cx="5212080" cy="91440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Developers fearing layoffs</a:t>
            </a:r>
            <a:endParaRPr lang="en-US" sz="3000" dirty="0"/>
          </a:p>
        </p:txBody>
      </p:sp>
      <p:sp>
        <p:nvSpPr>
          <p:cNvPr id="8" name="Text 6"/>
          <p:cNvSpPr txBox="1"/>
          <p:nvPr/>
        </p:nvSpPr>
        <p:spPr>
          <a:xfrm>
            <a:off x="6583680" y="2971800"/>
            <a:ext cx="5029200" cy="914400"/>
          </a:xfrm>
          <a:prstGeom prst="rect">
            <a:avLst/>
          </a:prstGeom>
          <a:noFill/>
          <a:ln/>
        </p:spPr>
        <p:txBody>
          <a:bodyPr wrap="square" lIns="0" tIns="0" rIns="0" bIns="0" rtlCol="0" anchor="ctr"/>
          <a:lstStyle/>
          <a:p>
            <a:pPr indent="0" marL="0">
              <a:buNone/>
            </a:pPr>
            <a:r>
              <a:rPr lang="en-US" sz="2800" dirty="0">
                <a:solidFill>
                  <a:schemeClr val="tx2"/>
                </a:solidFill>
                <a:latin typeface="Arial" pitchFamily="34" charset="0"/>
                <a:ea typeface="Arial" pitchFamily="34" charset="-122"/>
                <a:cs typeface="Arial" pitchFamily="34" charset="-120"/>
              </a:rPr>
              <a:t>Keeping their skills current</a:t>
            </a:r>
            <a:endParaRPr lang="en-US" sz="2800" dirty="0"/>
          </a:p>
        </p:txBody>
      </p:sp>
      <p:sp>
        <p:nvSpPr>
          <p:cNvPr id="9" name="Shape 7"/>
          <p:cNvSpPr/>
          <p:nvPr/>
        </p:nvSpPr>
        <p:spPr>
          <a:xfrm>
            <a:off x="548640" y="4297680"/>
            <a:ext cx="5669280" cy="914400"/>
          </a:xfrm>
          <a:prstGeom prst="roundRect">
            <a:avLst>
              <a:gd name="adj" fmla="val 50000"/>
            </a:avLst>
          </a:prstGeom>
          <a:solidFill>
            <a:srgbClr val="FFFFFF"/>
          </a:solidFill>
          <a:ln w="38100">
            <a:solidFill>
              <a:srgbClr val="121212"/>
            </a:solidFill>
            <a:prstDash val="solid"/>
          </a:ln>
        </p:spPr>
      </p:sp>
      <p:sp>
        <p:nvSpPr>
          <p:cNvPr id="10" name="Text 8"/>
          <p:cNvSpPr txBox="1"/>
          <p:nvPr/>
        </p:nvSpPr>
        <p:spPr>
          <a:xfrm>
            <a:off x="868680" y="4297680"/>
            <a:ext cx="5212080" cy="91440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People switching into tech</a:t>
            </a:r>
            <a:endParaRPr lang="en-US" sz="3000" dirty="0"/>
          </a:p>
        </p:txBody>
      </p:sp>
      <p:sp>
        <p:nvSpPr>
          <p:cNvPr id="11" name="Text 9"/>
          <p:cNvSpPr txBox="1"/>
          <p:nvPr/>
        </p:nvSpPr>
        <p:spPr>
          <a:xfrm>
            <a:off x="6583680" y="4297680"/>
            <a:ext cx="5029200" cy="914400"/>
          </a:xfrm>
          <a:prstGeom prst="rect">
            <a:avLst/>
          </a:prstGeom>
          <a:noFill/>
          <a:ln/>
        </p:spPr>
        <p:txBody>
          <a:bodyPr wrap="square" lIns="0" tIns="0" rIns="0" bIns="0" rtlCol="0" anchor="ctr"/>
          <a:lstStyle/>
          <a:p>
            <a:pPr indent="0" marL="0">
              <a:buNone/>
            </a:pPr>
            <a:r>
              <a:rPr lang="en-US" sz="2800" dirty="0">
                <a:solidFill>
                  <a:schemeClr val="tx2"/>
                </a:solidFill>
                <a:latin typeface="Arial" pitchFamily="34" charset="0"/>
                <a:ea typeface="Arial" pitchFamily="34" charset="-122"/>
                <a:cs typeface="Arial" pitchFamily="34" charset="-120"/>
              </a:rPr>
              <a:t>Finding the right first role</a:t>
            </a:r>
            <a:endParaRPr lang="en-US" sz="2800" dirty="0"/>
          </a:p>
        </p:txBody>
      </p:sp>
      <p:sp>
        <p:nvSpPr>
          <p:cNvPr id="12" name="Text 10"/>
          <p:cNvSpPr txBox="1"/>
          <p:nvPr/>
        </p:nvSpPr>
        <p:spPr>
          <a:xfrm>
            <a:off x="548640" y="5623560"/>
            <a:ext cx="11064240" cy="640080"/>
          </a:xfrm>
          <a:prstGeom prst="rect">
            <a:avLst/>
          </a:prstGeom>
          <a:noFill/>
          <a:ln/>
        </p:spPr>
        <p:txBody>
          <a:bodyPr wrap="square" lIns="0" tIns="0" rIns="0" bIns="0" rtlCol="0" anchor="ctr"/>
          <a:lstStyle/>
          <a:p>
            <a:pPr indent="0" marL="0">
              <a:buNone/>
            </a:pPr>
            <a:r>
              <a:rPr lang="en-US" sz="3200" b="1" dirty="0">
                <a:solidFill>
                  <a:schemeClr val="accent2"/>
                </a:solidFill>
                <a:latin typeface="Arial" pitchFamily="34" charset="0"/>
                <a:ea typeface="Arial" pitchFamily="34" charset="-122"/>
                <a:cs typeface="Arial" pitchFamily="34" charset="-120"/>
              </a:rPr>
              <a:t>One shared fear: will my skills still count?</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Varity: from CV to proof in four stops</a:t>
            </a:r>
            <a:endParaRPr lang="en-US" sz="4000" dirty="0"/>
          </a:p>
        </p:txBody>
      </p:sp>
      <p:sp>
        <p:nvSpPr>
          <p:cNvPr id="3" name="Shape 1"/>
          <p:cNvSpPr/>
          <p:nvPr/>
        </p:nvSpPr>
        <p:spPr>
          <a:xfrm>
            <a:off x="1965960" y="2468880"/>
            <a:ext cx="8229600" cy="0"/>
          </a:xfrm>
          <a:prstGeom prst="line">
            <a:avLst/>
          </a:prstGeom>
          <a:noFill/>
          <a:ln w="114300">
            <a:solidFill>
              <a:srgbClr val="0039A6"/>
            </a:solidFill>
            <a:prstDash val="solid"/>
          </a:ln>
        </p:spPr>
      </p:sp>
      <p:sp>
        <p:nvSpPr>
          <p:cNvPr id="4" name="Shape 2"/>
          <p:cNvSpPr/>
          <p:nvPr/>
        </p:nvSpPr>
        <p:spPr>
          <a:xfrm>
            <a:off x="1691640" y="2194560"/>
            <a:ext cx="548640" cy="548640"/>
          </a:xfrm>
          <a:prstGeom prst="ellipse">
            <a:avLst/>
          </a:prstGeom>
          <a:solidFill>
            <a:srgbClr val="FFFFFF"/>
          </a:solidFill>
          <a:ln w="38100">
            <a:solidFill>
              <a:srgbClr val="121212"/>
            </a:solidFill>
            <a:prstDash val="solid"/>
          </a:ln>
        </p:spPr>
      </p:sp>
      <p:sp>
        <p:nvSpPr>
          <p:cNvPr id="5" name="Text 3"/>
          <p:cNvSpPr txBox="1"/>
          <p:nvPr/>
        </p:nvSpPr>
        <p:spPr>
          <a:xfrm>
            <a:off x="640080" y="3383280"/>
            <a:ext cx="2651760" cy="548640"/>
          </a:xfrm>
          <a:prstGeom prst="rect">
            <a:avLst/>
          </a:prstGeom>
          <a:noFill/>
          <a:ln/>
        </p:spPr>
        <p:txBody>
          <a:bodyPr wrap="square" lIns="0" tIns="0" rIns="0" bIns="0" rtlCol="0" anchor="ctr"/>
          <a:lstStyle/>
          <a:p>
            <a:pPr algn="ctr" indent="0" marL="0">
              <a:buNone/>
            </a:pPr>
            <a:r>
              <a:rPr lang="en-US" sz="3000" b="1" dirty="0">
                <a:solidFill>
                  <a:schemeClr val="tx1"/>
                </a:solidFill>
                <a:latin typeface="Arial" pitchFamily="34" charset="0"/>
                <a:ea typeface="Arial" pitchFamily="34" charset="-122"/>
                <a:cs typeface="Arial" pitchFamily="34" charset="-120"/>
              </a:rPr>
              <a:t>Read your CV</a:t>
            </a:r>
            <a:endParaRPr lang="en-US" sz="3000" dirty="0"/>
          </a:p>
        </p:txBody>
      </p:sp>
      <p:sp>
        <p:nvSpPr>
          <p:cNvPr id="6" name="Text 4"/>
          <p:cNvSpPr txBox="1"/>
          <p:nvPr/>
        </p:nvSpPr>
        <p:spPr>
          <a:xfrm>
            <a:off x="685800" y="4023360"/>
            <a:ext cx="2560320" cy="1005840"/>
          </a:xfrm>
          <a:prstGeom prst="rect">
            <a:avLst/>
          </a:prstGeom>
          <a:noFill/>
          <a:ln/>
        </p:spPr>
        <p:txBody>
          <a:bodyPr wrap="square" lIns="0" tIns="0" rIns="0" bIns="0" rtlCol="0" anchor="ctr"/>
          <a:lstStyle/>
          <a:p>
            <a:pPr algn="ctr" indent="0" marL="0">
              <a:buNone/>
            </a:pPr>
            <a:r>
              <a:rPr lang="en-US" sz="2400" dirty="0">
                <a:solidFill>
                  <a:schemeClr val="tx2"/>
                </a:solidFill>
                <a:latin typeface="Arial" pitchFamily="34" charset="0"/>
                <a:ea typeface="Arial" pitchFamily="34" charset="-122"/>
                <a:cs typeface="Arial" pitchFamily="34" charset="-120"/>
              </a:rPr>
              <a:t>Skills, with proof</a:t>
            </a:r>
            <a:endParaRPr lang="en-US" sz="2400" dirty="0"/>
          </a:p>
        </p:txBody>
      </p:sp>
      <p:sp>
        <p:nvSpPr>
          <p:cNvPr id="7" name="Shape 5"/>
          <p:cNvSpPr/>
          <p:nvPr/>
        </p:nvSpPr>
        <p:spPr>
          <a:xfrm>
            <a:off x="4434840" y="2194560"/>
            <a:ext cx="548640" cy="548640"/>
          </a:xfrm>
          <a:prstGeom prst="ellipse">
            <a:avLst/>
          </a:prstGeom>
          <a:solidFill>
            <a:srgbClr val="FFFFFF"/>
          </a:solidFill>
          <a:ln w="38100">
            <a:solidFill>
              <a:srgbClr val="121212"/>
            </a:solidFill>
            <a:prstDash val="solid"/>
          </a:ln>
        </p:spPr>
      </p:sp>
      <p:sp>
        <p:nvSpPr>
          <p:cNvPr id="8" name="Text 6"/>
          <p:cNvSpPr txBox="1"/>
          <p:nvPr/>
        </p:nvSpPr>
        <p:spPr>
          <a:xfrm>
            <a:off x="3383280" y="3383280"/>
            <a:ext cx="2651760" cy="548640"/>
          </a:xfrm>
          <a:prstGeom prst="rect">
            <a:avLst/>
          </a:prstGeom>
          <a:noFill/>
          <a:ln/>
        </p:spPr>
        <p:txBody>
          <a:bodyPr wrap="square" lIns="0" tIns="0" rIns="0" bIns="0" rtlCol="0" anchor="ctr"/>
          <a:lstStyle/>
          <a:p>
            <a:pPr algn="ctr" indent="0" marL="0">
              <a:buNone/>
            </a:pPr>
            <a:r>
              <a:rPr lang="en-US" sz="3000" b="1" dirty="0">
                <a:solidFill>
                  <a:schemeClr val="tx1"/>
                </a:solidFill>
                <a:latin typeface="Arial" pitchFamily="34" charset="0"/>
                <a:ea typeface="Arial" pitchFamily="34" charset="-122"/>
                <a:cs typeface="Arial" pitchFamily="34" charset="-120"/>
              </a:rPr>
              <a:t>Match a role</a:t>
            </a:r>
            <a:endParaRPr lang="en-US" sz="3000" dirty="0"/>
          </a:p>
        </p:txBody>
      </p:sp>
      <p:sp>
        <p:nvSpPr>
          <p:cNvPr id="9" name="Text 7"/>
          <p:cNvSpPr txBox="1"/>
          <p:nvPr/>
        </p:nvSpPr>
        <p:spPr>
          <a:xfrm>
            <a:off x="3429000" y="4023360"/>
            <a:ext cx="2560320" cy="1005840"/>
          </a:xfrm>
          <a:prstGeom prst="rect">
            <a:avLst/>
          </a:prstGeom>
          <a:noFill/>
          <a:ln/>
        </p:spPr>
        <p:txBody>
          <a:bodyPr wrap="square" lIns="0" tIns="0" rIns="0" bIns="0" rtlCol="0" anchor="ctr"/>
          <a:lstStyle/>
          <a:p>
            <a:pPr algn="ctr" indent="0" marL="0">
              <a:buNone/>
            </a:pPr>
            <a:r>
              <a:rPr lang="en-US" sz="2400" dirty="0">
                <a:solidFill>
                  <a:schemeClr val="tx2"/>
                </a:solidFill>
                <a:latin typeface="Arial" pitchFamily="34" charset="0"/>
                <a:ea typeface="Arial" pitchFamily="34" charset="-122"/>
                <a:cs typeface="Arial" pitchFamily="34" charset="-120"/>
              </a:rPr>
              <a:t>Your match % and demand</a:t>
            </a:r>
            <a:endParaRPr lang="en-US" sz="2400" dirty="0"/>
          </a:p>
        </p:txBody>
      </p:sp>
      <p:sp>
        <p:nvSpPr>
          <p:cNvPr id="10" name="Shape 8"/>
          <p:cNvSpPr/>
          <p:nvPr/>
        </p:nvSpPr>
        <p:spPr>
          <a:xfrm>
            <a:off x="7178040" y="2194560"/>
            <a:ext cx="548640" cy="548640"/>
          </a:xfrm>
          <a:prstGeom prst="ellipse">
            <a:avLst/>
          </a:prstGeom>
          <a:solidFill>
            <a:srgbClr val="FFFFFF"/>
          </a:solidFill>
          <a:ln w="38100">
            <a:solidFill>
              <a:srgbClr val="121212"/>
            </a:solidFill>
            <a:prstDash val="solid"/>
          </a:ln>
        </p:spPr>
      </p:sp>
      <p:sp>
        <p:nvSpPr>
          <p:cNvPr id="11" name="Text 9"/>
          <p:cNvSpPr txBox="1"/>
          <p:nvPr/>
        </p:nvSpPr>
        <p:spPr>
          <a:xfrm>
            <a:off x="6126480" y="3383280"/>
            <a:ext cx="2651760" cy="548640"/>
          </a:xfrm>
          <a:prstGeom prst="rect">
            <a:avLst/>
          </a:prstGeom>
          <a:noFill/>
          <a:ln/>
        </p:spPr>
        <p:txBody>
          <a:bodyPr wrap="square" lIns="0" tIns="0" rIns="0" bIns="0" rtlCol="0" anchor="ctr"/>
          <a:lstStyle/>
          <a:p>
            <a:pPr algn="ctr" indent="0" marL="0">
              <a:buNone/>
            </a:pPr>
            <a:r>
              <a:rPr lang="en-US" sz="3000" b="1" dirty="0">
                <a:solidFill>
                  <a:schemeClr val="tx1"/>
                </a:solidFill>
                <a:latin typeface="Arial" pitchFamily="34" charset="0"/>
                <a:ea typeface="Arial" pitchFamily="34" charset="-122"/>
                <a:cs typeface="Arial" pitchFamily="34" charset="-120"/>
              </a:rPr>
              <a:t>Learn</a:t>
            </a:r>
            <a:endParaRPr lang="en-US" sz="3000" dirty="0"/>
          </a:p>
        </p:txBody>
      </p:sp>
      <p:sp>
        <p:nvSpPr>
          <p:cNvPr id="12" name="Text 10"/>
          <p:cNvSpPr txBox="1"/>
          <p:nvPr/>
        </p:nvSpPr>
        <p:spPr>
          <a:xfrm>
            <a:off x="6172200" y="4023360"/>
            <a:ext cx="2560320" cy="1005840"/>
          </a:xfrm>
          <a:prstGeom prst="rect">
            <a:avLst/>
          </a:prstGeom>
          <a:noFill/>
          <a:ln/>
        </p:spPr>
        <p:txBody>
          <a:bodyPr wrap="square" lIns="0" tIns="0" rIns="0" bIns="0" rtlCol="0" anchor="ctr"/>
          <a:lstStyle/>
          <a:p>
            <a:pPr algn="ctr" indent="0" marL="0">
              <a:buNone/>
            </a:pPr>
            <a:r>
              <a:rPr lang="en-US" sz="2400" dirty="0">
                <a:solidFill>
                  <a:schemeClr val="tx2"/>
                </a:solidFill>
                <a:latin typeface="Arial" pitchFamily="34" charset="0"/>
                <a:ea typeface="Arial" pitchFamily="34" charset="-122"/>
                <a:cs typeface="Arial" pitchFamily="34" charset="-120"/>
              </a:rPr>
              <a:t>A free daily plan</a:t>
            </a:r>
            <a:endParaRPr lang="en-US" sz="2400" dirty="0"/>
          </a:p>
        </p:txBody>
      </p:sp>
      <p:sp>
        <p:nvSpPr>
          <p:cNvPr id="13" name="Shape 11"/>
          <p:cNvSpPr/>
          <p:nvPr/>
        </p:nvSpPr>
        <p:spPr>
          <a:xfrm>
            <a:off x="9738360" y="1783080"/>
            <a:ext cx="914400" cy="1371600"/>
          </a:xfrm>
          <a:prstGeom prst="roundRect">
            <a:avLst>
              <a:gd name="adj" fmla="val 50000"/>
            </a:avLst>
          </a:prstGeom>
          <a:solidFill>
            <a:srgbClr val="FCCC0A"/>
          </a:solidFill>
          <a:ln w="12700">
            <a:solidFill>
              <a:srgbClr val="FCCC0A"/>
            </a:solidFill>
            <a:prstDash val="solid"/>
          </a:ln>
        </p:spPr>
      </p:sp>
      <p:sp>
        <p:nvSpPr>
          <p:cNvPr id="14" name="Shape 12"/>
          <p:cNvSpPr/>
          <p:nvPr/>
        </p:nvSpPr>
        <p:spPr>
          <a:xfrm>
            <a:off x="9939528" y="1965960"/>
            <a:ext cx="512064" cy="1005840"/>
          </a:xfrm>
          <a:prstGeom prst="roundRect">
            <a:avLst>
              <a:gd name="adj" fmla="val 50000"/>
            </a:avLst>
          </a:prstGeom>
          <a:solidFill>
            <a:srgbClr val="FFFFFF"/>
          </a:solidFill>
          <a:ln w="38100">
            <a:solidFill>
              <a:srgbClr val="121212"/>
            </a:solidFill>
            <a:prstDash val="solid"/>
          </a:ln>
        </p:spPr>
      </p:sp>
      <p:sp>
        <p:nvSpPr>
          <p:cNvPr id="15" name="Text 13"/>
          <p:cNvSpPr txBox="1"/>
          <p:nvPr/>
        </p:nvSpPr>
        <p:spPr>
          <a:xfrm>
            <a:off x="8869680" y="3383280"/>
            <a:ext cx="2651760" cy="548640"/>
          </a:xfrm>
          <a:prstGeom prst="rect">
            <a:avLst/>
          </a:prstGeom>
          <a:noFill/>
          <a:ln/>
        </p:spPr>
        <p:txBody>
          <a:bodyPr wrap="square" lIns="0" tIns="0" rIns="0" bIns="0" rtlCol="0" anchor="ctr"/>
          <a:lstStyle/>
          <a:p>
            <a:pPr algn="ctr" indent="0" marL="0">
              <a:buNone/>
            </a:pPr>
            <a:r>
              <a:rPr lang="en-US" sz="3000" b="1" dirty="0">
                <a:solidFill>
                  <a:schemeClr val="tx1"/>
                </a:solidFill>
                <a:latin typeface="Arial" pitchFamily="34" charset="0"/>
                <a:ea typeface="Arial" pitchFamily="34" charset="-122"/>
                <a:cs typeface="Arial" pitchFamily="34" charset="-120"/>
              </a:rPr>
              <a:t>Prove it</a:t>
            </a:r>
            <a:endParaRPr lang="en-US" sz="3000" dirty="0"/>
          </a:p>
        </p:txBody>
      </p:sp>
      <p:sp>
        <p:nvSpPr>
          <p:cNvPr id="16" name="Text 14"/>
          <p:cNvSpPr txBox="1"/>
          <p:nvPr/>
        </p:nvSpPr>
        <p:spPr>
          <a:xfrm>
            <a:off x="8915400" y="4023360"/>
            <a:ext cx="2560320" cy="1005840"/>
          </a:xfrm>
          <a:prstGeom prst="rect">
            <a:avLst/>
          </a:prstGeom>
          <a:noFill/>
          <a:ln/>
        </p:spPr>
        <p:txBody>
          <a:bodyPr wrap="square" lIns="0" tIns="0" rIns="0" bIns="0" rtlCol="0" anchor="ctr"/>
          <a:lstStyle/>
          <a:p>
            <a:pPr algn="ctr" indent="0" marL="0">
              <a:buNone/>
            </a:pPr>
            <a:r>
              <a:rPr lang="en-US" sz="2400" dirty="0">
                <a:solidFill>
                  <a:schemeClr val="tx2"/>
                </a:solidFill>
                <a:latin typeface="Arial" pitchFamily="34" charset="0"/>
                <a:ea typeface="Arial" pitchFamily="34" charset="-122"/>
                <a:cs typeface="Arial" pitchFamily="34" charset="-120"/>
              </a:rPr>
              <a:t>A project, reviewed by AI</a:t>
            </a:r>
            <a:endParaRPr lang="en-US" sz="2400" dirty="0"/>
          </a:p>
        </p:txBody>
      </p:sp>
      <p:sp>
        <p:nvSpPr>
          <p:cNvPr id="17" name="Text 15"/>
          <p:cNvSpPr txBox="1"/>
          <p:nvPr/>
        </p:nvSpPr>
        <p:spPr>
          <a:xfrm>
            <a:off x="548640" y="5440680"/>
            <a:ext cx="11064240" cy="640080"/>
          </a:xfrm>
          <a:prstGeom prst="rect">
            <a:avLst/>
          </a:prstGeom>
          <a:noFill/>
          <a:ln/>
        </p:spPr>
        <p:txBody>
          <a:bodyPr wrap="square" lIns="0" tIns="0" rIns="0" bIns="0" rtlCol="0" anchor="ctr"/>
          <a:lstStyle/>
          <a:p>
            <a:pPr algn="ctr" indent="0" marL="0">
              <a:buNone/>
            </a:pPr>
            <a:r>
              <a:rPr lang="en-US" sz="3200" b="1" dirty="0">
                <a:solidFill>
                  <a:schemeClr val="accent2"/>
                </a:solidFill>
                <a:latin typeface="Arial" pitchFamily="34" charset="0"/>
                <a:ea typeface="Arial" pitchFamily="34" charset="-122"/>
                <a:cs typeface="Arial" pitchFamily="34" charset="-120"/>
              </a:rPr>
              <a:t>Stop 4 is what no one else does.</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Employers want proof, not certificates</a:t>
            </a:r>
            <a:endParaRPr lang="en-US" sz="4000" dirty="0"/>
          </a:p>
        </p:txBody>
      </p:sp>
      <p:graphicFrame>
        <p:nvGraphicFramePr>
          <p:cNvPr id="3" name="Chart 0" descr=""/>
          <p:cNvGraphicFramePr/>
          <p:nvPr/>
        </p:nvGraphicFramePr>
        <p:xfrm>
          <a:off x="548640" y="1463040"/>
          <a:ext cx="722376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0" y="2011680"/>
            <a:ext cx="3520440" cy="1280160"/>
          </a:xfrm>
          <a:prstGeom prst="rect">
            <a:avLst/>
          </a:prstGeom>
          <a:noFill/>
          <a:ln/>
        </p:spPr>
        <p:txBody>
          <a:bodyPr wrap="square" lIns="0" tIns="0" rIns="0" bIns="0" rtlCol="0" anchor="ctr"/>
          <a:lstStyle/>
          <a:p>
            <a:pPr indent="0" marL="0">
              <a:buNone/>
            </a:pPr>
            <a:r>
              <a:rPr lang="en-US" sz="4000" b="1" dirty="0">
                <a:solidFill>
                  <a:schemeClr val="accent3"/>
                </a:solidFill>
                <a:latin typeface="Arial" pitchFamily="34" charset="0"/>
                <a:ea typeface="Arial" pitchFamily="34" charset="-122"/>
                <a:cs typeface="Arial" pitchFamily="34" charset="-120"/>
              </a:rPr>
              <a:t>Projects beat degrees.</a:t>
            </a:r>
            <a:endParaRPr lang="en-US" sz="4000" dirty="0"/>
          </a:p>
        </p:txBody>
      </p:sp>
      <p:sp>
        <p:nvSpPr>
          <p:cNvPr id="5" name="Text 2"/>
          <p:cNvSpPr txBox="1"/>
          <p:nvPr/>
        </p:nvSpPr>
        <p:spPr>
          <a:xfrm>
            <a:off x="8138160" y="3657600"/>
            <a:ext cx="3520440" cy="1280160"/>
          </a:xfrm>
          <a:prstGeom prst="rect">
            <a:avLst/>
          </a:prstGeom>
          <a:noFill/>
          <a:ln/>
        </p:spPr>
        <p:txBody>
          <a:bodyPr wrap="square" lIns="0" tIns="0" rIns="0" bIns="0" rtlCol="0" anchor="ctr"/>
          <a:lstStyle/>
          <a:p>
            <a:pPr indent="0" marL="0">
              <a:buNone/>
            </a:pPr>
            <a:r>
              <a:rPr lang="en-US" sz="4000" b="1" dirty="0">
                <a:solidFill>
                  <a:schemeClr val="accent4"/>
                </a:solidFill>
                <a:latin typeface="Arial" pitchFamily="34" charset="0"/>
                <a:ea typeface="Arial" pitchFamily="34" charset="-122"/>
                <a:cs typeface="Arial" pitchFamily="34" charset="-120"/>
              </a:rPr>
              <a:t>Certificates come last.</a:t>
            </a:r>
            <a:endParaRPr lang="en-US" sz="4000" dirty="0"/>
          </a:p>
        </p:txBody>
      </p:sp>
      <p:sp>
        <p:nvSpPr>
          <p:cNvPr id="6" name="Text 3"/>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 CodePath survey of 200+ engineering leaders (Fortune, 18 Dec 2025)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What sets us apart</a:t>
            </a:r>
            <a:endParaRPr lang="en-US" sz="4000" dirty="0"/>
          </a:p>
        </p:txBody>
      </p:sp>
      <p:sp>
        <p:nvSpPr>
          <p:cNvPr id="3" name="Shape 1"/>
          <p:cNvSpPr/>
          <p:nvPr/>
        </p:nvSpPr>
        <p:spPr>
          <a:xfrm>
            <a:off x="480060" y="1394460"/>
            <a:ext cx="868680" cy="868680"/>
          </a:xfrm>
          <a:prstGeom prst="roundRect">
            <a:avLst>
              <a:gd name="adj" fmla="val 50000"/>
            </a:avLst>
          </a:prstGeom>
          <a:solidFill>
            <a:srgbClr val="FCCC0A"/>
          </a:solidFill>
          <a:ln w="12700">
            <a:solidFill>
              <a:srgbClr val="FCCC0A"/>
            </a:solidFill>
            <a:prstDash val="solid"/>
          </a:ln>
        </p:spPr>
      </p:sp>
      <p:sp>
        <p:nvSpPr>
          <p:cNvPr id="4" name="Shape 2"/>
          <p:cNvSpPr/>
          <p:nvPr/>
        </p:nvSpPr>
        <p:spPr>
          <a:xfrm>
            <a:off x="640080" y="1554480"/>
            <a:ext cx="548640" cy="548640"/>
          </a:xfrm>
          <a:prstGeom prst="ellipse">
            <a:avLst/>
          </a:prstGeom>
          <a:solidFill>
            <a:srgbClr val="121212"/>
          </a:solidFill>
          <a:ln w="38100">
            <a:solidFill>
              <a:srgbClr val="121212"/>
            </a:solidFill>
            <a:prstDash val="solid"/>
          </a:ln>
        </p:spPr>
      </p:sp>
      <p:sp>
        <p:nvSpPr>
          <p:cNvPr id="5" name="Text 3"/>
          <p:cNvSpPr txBox="1"/>
          <p:nvPr/>
        </p:nvSpPr>
        <p:spPr>
          <a:xfrm>
            <a:off x="1554480" y="1463040"/>
            <a:ext cx="10058400" cy="59436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Proof, not certificates</a:t>
            </a:r>
            <a:endParaRPr lang="en-US" sz="3200" dirty="0"/>
          </a:p>
        </p:txBody>
      </p:sp>
      <p:sp>
        <p:nvSpPr>
          <p:cNvPr id="6" name="Text 4"/>
          <p:cNvSpPr txBox="1"/>
          <p:nvPr/>
        </p:nvSpPr>
        <p:spPr>
          <a:xfrm>
            <a:off x="1554480" y="2057400"/>
            <a:ext cx="10058400" cy="457200"/>
          </a:xfrm>
          <a:prstGeom prst="rect">
            <a:avLst/>
          </a:prstGeom>
          <a:noFill/>
          <a:ln/>
        </p:spPr>
        <p:txBody>
          <a:bodyPr wrap="square" lIns="0" tIns="0" rIns="0" bIns="0" rtlCol="0" anchor="ctr"/>
          <a:lstStyle/>
          <a:p>
            <a:pPr indent="0" marL="0">
              <a:buNone/>
            </a:pPr>
            <a:r>
              <a:rPr lang="en-US" sz="2200" dirty="0">
                <a:solidFill>
                  <a:schemeClr val="tx2"/>
                </a:solidFill>
                <a:latin typeface="Arial" pitchFamily="34" charset="0"/>
                <a:ea typeface="Arial" pitchFamily="34" charset="-122"/>
                <a:cs typeface="Arial" pitchFamily="34" charset="-120"/>
              </a:rPr>
              <a:t>A project for your target role marks the skill Applied.</a:t>
            </a:r>
            <a:endParaRPr lang="en-US" sz="2200" dirty="0"/>
          </a:p>
        </p:txBody>
      </p:sp>
      <p:sp>
        <p:nvSpPr>
          <p:cNvPr id="7" name="Shape 5"/>
          <p:cNvSpPr/>
          <p:nvPr/>
        </p:nvSpPr>
        <p:spPr>
          <a:xfrm>
            <a:off x="640080" y="2743200"/>
            <a:ext cx="548640" cy="548640"/>
          </a:xfrm>
          <a:prstGeom prst="ellipse">
            <a:avLst/>
          </a:prstGeom>
          <a:solidFill>
            <a:srgbClr val="FFFFFF"/>
          </a:solidFill>
          <a:ln w="38100">
            <a:solidFill>
              <a:srgbClr val="121212"/>
            </a:solidFill>
            <a:prstDash val="solid"/>
          </a:ln>
        </p:spPr>
      </p:sp>
      <p:sp>
        <p:nvSpPr>
          <p:cNvPr id="8" name="Text 6"/>
          <p:cNvSpPr txBox="1"/>
          <p:nvPr/>
        </p:nvSpPr>
        <p:spPr>
          <a:xfrm>
            <a:off x="1554480" y="2651760"/>
            <a:ext cx="10058400" cy="59436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A jury of 3 AIs marks your project</a:t>
            </a:r>
            <a:endParaRPr lang="en-US" sz="3200" dirty="0"/>
          </a:p>
        </p:txBody>
      </p:sp>
      <p:sp>
        <p:nvSpPr>
          <p:cNvPr id="9" name="Text 7"/>
          <p:cNvSpPr txBox="1"/>
          <p:nvPr/>
        </p:nvSpPr>
        <p:spPr>
          <a:xfrm>
            <a:off x="1554480" y="3246120"/>
            <a:ext cx="10058400" cy="457200"/>
          </a:xfrm>
          <a:prstGeom prst="rect">
            <a:avLst/>
          </a:prstGeom>
          <a:noFill/>
          <a:ln/>
        </p:spPr>
        <p:txBody>
          <a:bodyPr wrap="square" lIns="0" tIns="0" rIns="0" bIns="0" rtlCol="0" anchor="ctr"/>
          <a:lstStyle/>
          <a:p>
            <a:pPr indent="0" marL="0">
              <a:buNone/>
            </a:pPr>
            <a:r>
              <a:rPr lang="en-US" sz="2200" dirty="0">
                <a:solidFill>
                  <a:schemeClr val="tx2"/>
                </a:solidFill>
                <a:latin typeface="Arial" pitchFamily="34" charset="0"/>
                <a:ea typeface="Arial" pitchFamily="34" charset="-122"/>
                <a:cs typeface="Arial" pitchFamily="34" charset="-120"/>
              </a:rPr>
              <a:t>Claude, GPT and DeepSeek. 2 of 3 must agree.</a:t>
            </a:r>
            <a:endParaRPr lang="en-US" sz="2200" dirty="0"/>
          </a:p>
        </p:txBody>
      </p:sp>
      <p:sp>
        <p:nvSpPr>
          <p:cNvPr id="10" name="Shape 8"/>
          <p:cNvSpPr/>
          <p:nvPr/>
        </p:nvSpPr>
        <p:spPr>
          <a:xfrm>
            <a:off x="640080" y="3931920"/>
            <a:ext cx="548640" cy="548640"/>
          </a:xfrm>
          <a:prstGeom prst="ellipse">
            <a:avLst/>
          </a:prstGeom>
          <a:solidFill>
            <a:srgbClr val="FFFFFF"/>
          </a:solidFill>
          <a:ln w="38100">
            <a:solidFill>
              <a:srgbClr val="121212"/>
            </a:solidFill>
            <a:prstDash val="solid"/>
          </a:ln>
        </p:spPr>
      </p:sp>
      <p:sp>
        <p:nvSpPr>
          <p:cNvPr id="11" name="Text 9"/>
          <p:cNvSpPr txBox="1"/>
          <p:nvPr/>
        </p:nvSpPr>
        <p:spPr>
          <a:xfrm>
            <a:off x="1554480" y="3840480"/>
            <a:ext cx="10058400" cy="59436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Every skill shows its proof</a:t>
            </a:r>
            <a:endParaRPr lang="en-US" sz="3200" dirty="0"/>
          </a:p>
        </p:txBody>
      </p:sp>
      <p:sp>
        <p:nvSpPr>
          <p:cNvPr id="12" name="Text 10"/>
          <p:cNvSpPr txBox="1"/>
          <p:nvPr/>
        </p:nvSpPr>
        <p:spPr>
          <a:xfrm>
            <a:off x="1554480" y="4434840"/>
            <a:ext cx="10058400" cy="457200"/>
          </a:xfrm>
          <a:prstGeom prst="rect">
            <a:avLst/>
          </a:prstGeom>
          <a:noFill/>
          <a:ln/>
        </p:spPr>
        <p:txBody>
          <a:bodyPr wrap="square" lIns="0" tIns="0" rIns="0" bIns="0" rtlCol="0" anchor="ctr"/>
          <a:lstStyle/>
          <a:p>
            <a:pPr indent="0" marL="0">
              <a:buNone/>
            </a:pPr>
            <a:r>
              <a:rPr lang="en-US" sz="2200" dirty="0">
                <a:solidFill>
                  <a:schemeClr val="tx2"/>
                </a:solidFill>
                <a:latin typeface="Arial" pitchFamily="34" charset="0"/>
                <a:ea typeface="Arial" pitchFamily="34" charset="-122"/>
                <a:cs typeface="Arial" pitchFamily="34" charset="-120"/>
              </a:rPr>
              <a:t>A quote from your CV or your code. AI never makes up a number.</a:t>
            </a:r>
            <a:endParaRPr lang="en-US" sz="2200" dirty="0"/>
          </a:p>
        </p:txBody>
      </p:sp>
      <p:sp>
        <p:nvSpPr>
          <p:cNvPr id="13" name="Shape 11"/>
          <p:cNvSpPr/>
          <p:nvPr/>
        </p:nvSpPr>
        <p:spPr>
          <a:xfrm>
            <a:off x="640080" y="5120640"/>
            <a:ext cx="548640" cy="548640"/>
          </a:xfrm>
          <a:prstGeom prst="ellipse">
            <a:avLst/>
          </a:prstGeom>
          <a:solidFill>
            <a:srgbClr val="FFFFFF"/>
          </a:solidFill>
          <a:ln w="38100">
            <a:solidFill>
              <a:srgbClr val="121212"/>
            </a:solidFill>
            <a:prstDash val="solid"/>
          </a:ln>
        </p:spPr>
      </p:sp>
      <p:sp>
        <p:nvSpPr>
          <p:cNvPr id="14" name="Text 12"/>
          <p:cNvSpPr txBox="1"/>
          <p:nvPr/>
        </p:nvSpPr>
        <p:spPr>
          <a:xfrm>
            <a:off x="1554480" y="5029200"/>
            <a:ext cx="10058400" cy="59436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Live demand from real job posts</a:t>
            </a:r>
            <a:endParaRPr lang="en-US" sz="3200" dirty="0"/>
          </a:p>
        </p:txBody>
      </p:sp>
      <p:sp>
        <p:nvSpPr>
          <p:cNvPr id="15" name="Text 13"/>
          <p:cNvSpPr txBox="1"/>
          <p:nvPr/>
        </p:nvSpPr>
        <p:spPr>
          <a:xfrm>
            <a:off x="1554480" y="5623560"/>
            <a:ext cx="10058400" cy="457200"/>
          </a:xfrm>
          <a:prstGeom prst="rect">
            <a:avLst/>
          </a:prstGeom>
          <a:noFill/>
          <a:ln/>
        </p:spPr>
        <p:txBody>
          <a:bodyPr wrap="square" lIns="0" tIns="0" rIns="0" bIns="0" rtlCol="0" anchor="ctr"/>
          <a:lstStyle/>
          <a:p>
            <a:pPr indent="0" marL="0">
              <a:buNone/>
            </a:pPr>
            <a:r>
              <a:rPr lang="en-US" sz="2200" dirty="0">
                <a:solidFill>
                  <a:schemeClr val="tx2"/>
                </a:solidFill>
                <a:latin typeface="Arial" pitchFamily="34" charset="0"/>
                <a:ea typeface="Arial" pitchFamily="34" charset="-122"/>
                <a:cs typeface="Arial" pitchFamily="34" charset="-120"/>
              </a:rPr>
              <a:t>Refreshed every day and tested on past years.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Prove it with a project</a:t>
            </a:r>
            <a:endParaRPr lang="en-US" sz="4000" dirty="0"/>
          </a:p>
        </p:txBody>
      </p:sp>
      <p:sp>
        <p:nvSpPr>
          <p:cNvPr id="3" name="Shape 1"/>
          <p:cNvSpPr/>
          <p:nvPr/>
        </p:nvSpPr>
        <p:spPr>
          <a:xfrm>
            <a:off x="548640" y="1554480"/>
            <a:ext cx="2560320" cy="2286000"/>
          </a:xfrm>
          <a:prstGeom prst="rect">
            <a:avLst/>
          </a:prstGeom>
          <a:solidFill>
            <a:srgbClr val="FFFFFF"/>
          </a:solidFill>
          <a:ln w="38100">
            <a:solidFill>
              <a:srgbClr val="121212"/>
            </a:solidFill>
            <a:prstDash val="solid"/>
          </a:ln>
        </p:spPr>
      </p:sp>
      <p:sp>
        <p:nvSpPr>
          <p:cNvPr id="4" name="Text 2"/>
          <p:cNvSpPr txBox="1"/>
          <p:nvPr/>
        </p:nvSpPr>
        <p:spPr>
          <a:xfrm>
            <a:off x="731520" y="1783080"/>
            <a:ext cx="2194560" cy="640080"/>
          </a:xfrm>
          <a:prstGeom prst="rect">
            <a:avLst/>
          </a:prstGeom>
          <a:noFill/>
          <a:ln/>
        </p:spPr>
        <p:txBody>
          <a:bodyPr wrap="square" lIns="0" tIns="0" rIns="0" bIns="0" rtlCol="0" anchor="ctr"/>
          <a:lstStyle/>
          <a:p>
            <a:pPr algn="ctr" indent="0" marL="0">
              <a:buNone/>
            </a:pPr>
            <a:r>
              <a:rPr lang="en-US" sz="3200" b="1" dirty="0">
                <a:solidFill>
                  <a:schemeClr val="tx1"/>
                </a:solidFill>
                <a:latin typeface="Arial" pitchFamily="34" charset="0"/>
                <a:ea typeface="Arial" pitchFamily="34" charset="-122"/>
                <a:cs typeface="Arial" pitchFamily="34" charset="-120"/>
              </a:rPr>
              <a:t>Learned</a:t>
            </a:r>
            <a:endParaRPr lang="en-US" sz="3200" dirty="0"/>
          </a:p>
        </p:txBody>
      </p:sp>
      <p:sp>
        <p:nvSpPr>
          <p:cNvPr id="5" name="Text 3"/>
          <p:cNvSpPr txBox="1"/>
          <p:nvPr/>
        </p:nvSpPr>
        <p:spPr>
          <a:xfrm>
            <a:off x="731520" y="2560320"/>
            <a:ext cx="2194560" cy="1097280"/>
          </a:xfrm>
          <a:prstGeom prst="rect">
            <a:avLst/>
          </a:prstGeom>
          <a:noFill/>
          <a:ln/>
        </p:spPr>
        <p:txBody>
          <a:bodyPr wrap="square" lIns="0" tIns="0" rIns="0" bIns="0" rtlCol="0" anchor="ctr"/>
          <a:lstStyle/>
          <a:p>
            <a:pPr algn="ctr" indent="0" marL="0">
              <a:buNone/>
            </a:pPr>
            <a:r>
              <a:rPr lang="en-US" sz="2200" dirty="0">
                <a:solidFill>
                  <a:schemeClr val="tx1"/>
                </a:solidFill>
                <a:latin typeface="Arial" pitchFamily="34" charset="0"/>
                <a:ea typeface="Arial" pitchFamily="34" charset="-122"/>
                <a:cs typeface="Arial" pitchFamily="34" charset="-120"/>
              </a:rPr>
              <a:t>Course done</a:t>
            </a:r>
            <a:endParaRPr lang="en-US" sz="2200" dirty="0"/>
          </a:p>
        </p:txBody>
      </p:sp>
      <p:sp>
        <p:nvSpPr>
          <p:cNvPr id="6" name="Shape 4"/>
          <p:cNvSpPr/>
          <p:nvPr/>
        </p:nvSpPr>
        <p:spPr>
          <a:xfrm>
            <a:off x="3136392" y="2468880"/>
            <a:ext cx="274320" cy="457200"/>
          </a:xfrm>
          <a:prstGeom prst="rightArrow">
            <a:avLst/>
          </a:prstGeom>
          <a:solidFill>
            <a:srgbClr val="0039A6"/>
          </a:solidFill>
          <a:ln w="12700">
            <a:solidFill>
              <a:srgbClr val="0039A6"/>
            </a:solidFill>
            <a:prstDash val="solid"/>
          </a:ln>
        </p:spPr>
      </p:sp>
      <p:sp>
        <p:nvSpPr>
          <p:cNvPr id="7" name="Shape 5"/>
          <p:cNvSpPr/>
          <p:nvPr/>
        </p:nvSpPr>
        <p:spPr>
          <a:xfrm>
            <a:off x="3429000" y="1554480"/>
            <a:ext cx="2560320" cy="2286000"/>
          </a:xfrm>
          <a:prstGeom prst="rect">
            <a:avLst/>
          </a:prstGeom>
          <a:solidFill>
            <a:srgbClr val="FFFFFF"/>
          </a:solidFill>
          <a:ln w="38100">
            <a:solidFill>
              <a:srgbClr val="121212"/>
            </a:solidFill>
            <a:prstDash val="solid"/>
          </a:ln>
        </p:spPr>
      </p:sp>
      <p:sp>
        <p:nvSpPr>
          <p:cNvPr id="8" name="Text 6"/>
          <p:cNvSpPr txBox="1"/>
          <p:nvPr/>
        </p:nvSpPr>
        <p:spPr>
          <a:xfrm>
            <a:off x="3611880" y="1783080"/>
            <a:ext cx="2194560" cy="640080"/>
          </a:xfrm>
          <a:prstGeom prst="rect">
            <a:avLst/>
          </a:prstGeom>
          <a:noFill/>
          <a:ln/>
        </p:spPr>
        <p:txBody>
          <a:bodyPr wrap="square" lIns="0" tIns="0" rIns="0" bIns="0" rtlCol="0" anchor="ctr"/>
          <a:lstStyle/>
          <a:p>
            <a:pPr algn="ctr" indent="0" marL="0">
              <a:buNone/>
            </a:pPr>
            <a:r>
              <a:rPr lang="en-US" sz="3200" b="1" dirty="0">
                <a:solidFill>
                  <a:schemeClr val="tx1"/>
                </a:solidFill>
                <a:latin typeface="Arial" pitchFamily="34" charset="0"/>
                <a:ea typeface="Arial" pitchFamily="34" charset="-122"/>
                <a:cs typeface="Arial" pitchFamily="34" charset="-120"/>
              </a:rPr>
              <a:t>Build</a:t>
            </a:r>
            <a:endParaRPr lang="en-US" sz="3200" dirty="0"/>
          </a:p>
        </p:txBody>
      </p:sp>
      <p:sp>
        <p:nvSpPr>
          <p:cNvPr id="9" name="Text 7"/>
          <p:cNvSpPr txBox="1"/>
          <p:nvPr/>
        </p:nvSpPr>
        <p:spPr>
          <a:xfrm>
            <a:off x="3611880" y="2560320"/>
            <a:ext cx="2194560" cy="1097280"/>
          </a:xfrm>
          <a:prstGeom prst="rect">
            <a:avLst/>
          </a:prstGeom>
          <a:noFill/>
          <a:ln/>
        </p:spPr>
        <p:txBody>
          <a:bodyPr wrap="square" lIns="0" tIns="0" rIns="0" bIns="0" rtlCol="0" anchor="ctr"/>
          <a:lstStyle/>
          <a:p>
            <a:pPr algn="ctr" indent="0" marL="0">
              <a:buNone/>
            </a:pPr>
            <a:r>
              <a:rPr lang="en-US" sz="2200" dirty="0">
                <a:solidFill>
                  <a:schemeClr val="tx1"/>
                </a:solidFill>
                <a:latin typeface="Arial" pitchFamily="34" charset="0"/>
                <a:ea typeface="Arial" pitchFamily="34" charset="-122"/>
                <a:cs typeface="Arial" pitchFamily="34" charset="-120"/>
              </a:rPr>
              <a:t>A project for your target role</a:t>
            </a:r>
            <a:endParaRPr lang="en-US" sz="2200" dirty="0"/>
          </a:p>
        </p:txBody>
      </p:sp>
      <p:sp>
        <p:nvSpPr>
          <p:cNvPr id="10" name="Shape 8"/>
          <p:cNvSpPr/>
          <p:nvPr/>
        </p:nvSpPr>
        <p:spPr>
          <a:xfrm>
            <a:off x="6016752" y="2468880"/>
            <a:ext cx="274320" cy="457200"/>
          </a:xfrm>
          <a:prstGeom prst="rightArrow">
            <a:avLst/>
          </a:prstGeom>
          <a:solidFill>
            <a:srgbClr val="0039A6"/>
          </a:solidFill>
          <a:ln w="12700">
            <a:solidFill>
              <a:srgbClr val="0039A6"/>
            </a:solidFill>
            <a:prstDash val="solid"/>
          </a:ln>
        </p:spPr>
      </p:sp>
      <p:sp>
        <p:nvSpPr>
          <p:cNvPr id="11" name="Shape 9"/>
          <p:cNvSpPr/>
          <p:nvPr/>
        </p:nvSpPr>
        <p:spPr>
          <a:xfrm>
            <a:off x="6309360" y="1554480"/>
            <a:ext cx="2560320" cy="2286000"/>
          </a:xfrm>
          <a:prstGeom prst="rect">
            <a:avLst/>
          </a:prstGeom>
          <a:solidFill>
            <a:srgbClr val="FFFFFF"/>
          </a:solidFill>
          <a:ln w="38100">
            <a:solidFill>
              <a:srgbClr val="121212"/>
            </a:solidFill>
            <a:prstDash val="solid"/>
          </a:ln>
        </p:spPr>
      </p:sp>
      <p:sp>
        <p:nvSpPr>
          <p:cNvPr id="12" name="Text 10"/>
          <p:cNvSpPr txBox="1"/>
          <p:nvPr/>
        </p:nvSpPr>
        <p:spPr>
          <a:xfrm>
            <a:off x="6492240" y="1783080"/>
            <a:ext cx="2194560" cy="640080"/>
          </a:xfrm>
          <a:prstGeom prst="rect">
            <a:avLst/>
          </a:prstGeom>
          <a:noFill/>
          <a:ln/>
        </p:spPr>
        <p:txBody>
          <a:bodyPr wrap="square" lIns="0" tIns="0" rIns="0" bIns="0" rtlCol="0" anchor="ctr"/>
          <a:lstStyle/>
          <a:p>
            <a:pPr algn="ctr" indent="0" marL="0">
              <a:buNone/>
            </a:pPr>
            <a:r>
              <a:rPr lang="en-US" sz="3200" b="1" dirty="0">
                <a:solidFill>
                  <a:schemeClr val="tx1"/>
                </a:solidFill>
                <a:latin typeface="Arial" pitchFamily="34" charset="0"/>
                <a:ea typeface="Arial" pitchFamily="34" charset="-122"/>
                <a:cs typeface="Arial" pitchFamily="34" charset="-120"/>
              </a:rPr>
              <a:t>Review</a:t>
            </a:r>
            <a:endParaRPr lang="en-US" sz="3200" dirty="0"/>
          </a:p>
        </p:txBody>
      </p:sp>
      <p:sp>
        <p:nvSpPr>
          <p:cNvPr id="13" name="Text 11"/>
          <p:cNvSpPr txBox="1"/>
          <p:nvPr/>
        </p:nvSpPr>
        <p:spPr>
          <a:xfrm>
            <a:off x="6492240" y="2560320"/>
            <a:ext cx="2194560" cy="1097280"/>
          </a:xfrm>
          <a:prstGeom prst="rect">
            <a:avLst/>
          </a:prstGeom>
          <a:noFill/>
          <a:ln/>
        </p:spPr>
        <p:txBody>
          <a:bodyPr wrap="square" lIns="0" tIns="0" rIns="0" bIns="0" rtlCol="0" anchor="ctr"/>
          <a:lstStyle/>
          <a:p>
            <a:pPr algn="ctr" indent="0" marL="0">
              <a:buNone/>
            </a:pPr>
            <a:r>
              <a:rPr lang="en-US" sz="2200" dirty="0">
                <a:solidFill>
                  <a:schemeClr val="tx1"/>
                </a:solidFill>
                <a:latin typeface="Arial" pitchFamily="34" charset="0"/>
                <a:ea typeface="Arial" pitchFamily="34" charset="-122"/>
                <a:cs typeface="Arial" pitchFamily="34" charset="-120"/>
              </a:rPr>
              <a:t>3 AIs review and mark it</a:t>
            </a:r>
            <a:endParaRPr lang="en-US" sz="2200" dirty="0"/>
          </a:p>
        </p:txBody>
      </p:sp>
      <p:sp>
        <p:nvSpPr>
          <p:cNvPr id="14" name="Shape 12"/>
          <p:cNvSpPr/>
          <p:nvPr/>
        </p:nvSpPr>
        <p:spPr>
          <a:xfrm>
            <a:off x="8897112" y="2468880"/>
            <a:ext cx="274320" cy="457200"/>
          </a:xfrm>
          <a:prstGeom prst="rightArrow">
            <a:avLst/>
          </a:prstGeom>
          <a:solidFill>
            <a:srgbClr val="0039A6"/>
          </a:solidFill>
          <a:ln w="12700">
            <a:solidFill>
              <a:srgbClr val="0039A6"/>
            </a:solidFill>
            <a:prstDash val="solid"/>
          </a:ln>
        </p:spPr>
      </p:sp>
      <p:sp>
        <p:nvSpPr>
          <p:cNvPr id="15" name="Shape 13"/>
          <p:cNvSpPr/>
          <p:nvPr/>
        </p:nvSpPr>
        <p:spPr>
          <a:xfrm>
            <a:off x="9189720" y="1554480"/>
            <a:ext cx="2560320" cy="2286000"/>
          </a:xfrm>
          <a:prstGeom prst="rect">
            <a:avLst/>
          </a:prstGeom>
          <a:solidFill>
            <a:srgbClr val="FCCC0A"/>
          </a:solidFill>
          <a:ln w="38100">
            <a:solidFill>
              <a:srgbClr val="121212"/>
            </a:solidFill>
            <a:prstDash val="solid"/>
          </a:ln>
        </p:spPr>
      </p:sp>
      <p:sp>
        <p:nvSpPr>
          <p:cNvPr id="16" name="Text 14"/>
          <p:cNvSpPr txBox="1"/>
          <p:nvPr/>
        </p:nvSpPr>
        <p:spPr>
          <a:xfrm>
            <a:off x="9372600" y="1783080"/>
            <a:ext cx="2194560" cy="640080"/>
          </a:xfrm>
          <a:prstGeom prst="rect">
            <a:avLst/>
          </a:prstGeom>
          <a:noFill/>
          <a:ln/>
        </p:spPr>
        <p:txBody>
          <a:bodyPr wrap="square" lIns="0" tIns="0" rIns="0" bIns="0" rtlCol="0" anchor="ctr"/>
          <a:lstStyle/>
          <a:p>
            <a:pPr algn="ctr" indent="0" marL="0">
              <a:buNone/>
            </a:pPr>
            <a:r>
              <a:rPr lang="en-US" sz="3200" b="1" dirty="0">
                <a:solidFill>
                  <a:schemeClr val="tx1"/>
                </a:solidFill>
                <a:latin typeface="Arial" pitchFamily="34" charset="0"/>
                <a:ea typeface="Arial" pitchFamily="34" charset="-122"/>
                <a:cs typeface="Arial" pitchFamily="34" charset="-120"/>
              </a:rPr>
              <a:t>Applied</a:t>
            </a:r>
            <a:endParaRPr lang="en-US" sz="3200" dirty="0"/>
          </a:p>
        </p:txBody>
      </p:sp>
      <p:sp>
        <p:nvSpPr>
          <p:cNvPr id="17" name="Text 15"/>
          <p:cNvSpPr txBox="1"/>
          <p:nvPr/>
        </p:nvSpPr>
        <p:spPr>
          <a:xfrm>
            <a:off x="9372600" y="2560320"/>
            <a:ext cx="2194560" cy="1097280"/>
          </a:xfrm>
          <a:prstGeom prst="rect">
            <a:avLst/>
          </a:prstGeom>
          <a:noFill/>
          <a:ln/>
        </p:spPr>
        <p:txBody>
          <a:bodyPr wrap="square" lIns="0" tIns="0" rIns="0" bIns="0" rtlCol="0" anchor="ctr"/>
          <a:lstStyle/>
          <a:p>
            <a:pPr algn="ctr" indent="0" marL="0">
              <a:buNone/>
            </a:pPr>
            <a:r>
              <a:rPr lang="en-US" sz="2200" dirty="0">
                <a:solidFill>
                  <a:schemeClr val="tx1"/>
                </a:solidFill>
                <a:latin typeface="Arial" pitchFamily="34" charset="0"/>
                <a:ea typeface="Arial" pitchFamily="34" charset="-122"/>
                <a:cs typeface="Arial" pitchFamily="34" charset="-120"/>
              </a:rPr>
              <a:t>The skill counts in full</a:t>
            </a:r>
            <a:endParaRPr lang="en-US" sz="2200" dirty="0"/>
          </a:p>
        </p:txBody>
      </p:sp>
      <p:sp>
        <p:nvSpPr>
          <p:cNvPr id="18" name="Text 16"/>
          <p:cNvSpPr txBox="1"/>
          <p:nvPr/>
        </p:nvSpPr>
        <p:spPr>
          <a:xfrm>
            <a:off x="548640" y="4206240"/>
            <a:ext cx="1280160" cy="1371600"/>
          </a:xfrm>
          <a:prstGeom prst="rect">
            <a:avLst/>
          </a:prstGeom>
          <a:noFill/>
          <a:ln/>
        </p:spPr>
        <p:txBody>
          <a:bodyPr wrap="square" lIns="0" tIns="0" rIns="0" bIns="0" rtlCol="0" anchor="ctr"/>
          <a:lstStyle/>
          <a:p>
            <a:pPr indent="0" marL="0">
              <a:buNone/>
            </a:pPr>
            <a:r>
              <a:rPr lang="en-US" sz="9600" b="1" dirty="0">
                <a:solidFill>
                  <a:schemeClr val="tx2"/>
                </a:solidFill>
                <a:latin typeface="Arial" pitchFamily="34" charset="0"/>
                <a:ea typeface="Arial" pitchFamily="34" charset="-122"/>
                <a:cs typeface="Arial" pitchFamily="34" charset="-120"/>
              </a:rPr>
              <a:t>½</a:t>
            </a:r>
            <a:endParaRPr lang="en-US" sz="9600" dirty="0"/>
          </a:p>
        </p:txBody>
      </p:sp>
      <p:sp>
        <p:nvSpPr>
          <p:cNvPr id="19" name="Text 17"/>
          <p:cNvSpPr txBox="1"/>
          <p:nvPr/>
        </p:nvSpPr>
        <p:spPr>
          <a:xfrm>
            <a:off x="1920240" y="4526280"/>
            <a:ext cx="4114800" cy="82296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Studied only: counts half.</a:t>
            </a:r>
            <a:endParaRPr lang="en-US" sz="3000" dirty="0"/>
          </a:p>
        </p:txBody>
      </p:sp>
      <p:sp>
        <p:nvSpPr>
          <p:cNvPr id="20" name="Text 18"/>
          <p:cNvSpPr txBox="1"/>
          <p:nvPr/>
        </p:nvSpPr>
        <p:spPr>
          <a:xfrm>
            <a:off x="6309360" y="4206240"/>
            <a:ext cx="1463040" cy="1371600"/>
          </a:xfrm>
          <a:prstGeom prst="rect">
            <a:avLst/>
          </a:prstGeom>
          <a:noFill/>
          <a:ln/>
        </p:spPr>
        <p:txBody>
          <a:bodyPr wrap="square" lIns="0" tIns="0" rIns="0" bIns="0" rtlCol="0" anchor="ctr"/>
          <a:lstStyle/>
          <a:p>
            <a:pPr indent="0" marL="0">
              <a:buNone/>
            </a:pPr>
            <a:r>
              <a:rPr lang="en-US" sz="9600" b="1" dirty="0">
                <a:solidFill>
                  <a:schemeClr val="accent3"/>
                </a:solidFill>
                <a:latin typeface="Arial" pitchFamily="34" charset="0"/>
                <a:ea typeface="Arial" pitchFamily="34" charset="-122"/>
                <a:cs typeface="Arial" pitchFamily="34" charset="-120"/>
              </a:rPr>
              <a:t>×1</a:t>
            </a:r>
            <a:endParaRPr lang="en-US" sz="9600" dirty="0"/>
          </a:p>
        </p:txBody>
      </p:sp>
      <p:sp>
        <p:nvSpPr>
          <p:cNvPr id="21" name="Text 19"/>
          <p:cNvSpPr txBox="1"/>
          <p:nvPr/>
        </p:nvSpPr>
        <p:spPr>
          <a:xfrm>
            <a:off x="7863840" y="4526280"/>
            <a:ext cx="3840480" cy="82296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Project passed: counts in full.</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Then: a CV built from your proof</a:t>
            </a:r>
            <a:endParaRPr lang="en-US" sz="4000" dirty="0"/>
          </a:p>
        </p:txBody>
      </p:sp>
      <p:sp>
        <p:nvSpPr>
          <p:cNvPr id="3" name="Shape 1"/>
          <p:cNvSpPr/>
          <p:nvPr/>
        </p:nvSpPr>
        <p:spPr>
          <a:xfrm>
            <a:off x="548640" y="1554480"/>
            <a:ext cx="5394960" cy="2651760"/>
          </a:xfrm>
          <a:prstGeom prst="rect">
            <a:avLst/>
          </a:prstGeom>
          <a:solidFill>
            <a:srgbClr val="FFFFFF"/>
          </a:solidFill>
          <a:ln w="38100">
            <a:solidFill>
              <a:srgbClr val="121212"/>
            </a:solidFill>
            <a:prstDash val="solid"/>
          </a:ln>
        </p:spPr>
      </p:sp>
      <p:sp>
        <p:nvSpPr>
          <p:cNvPr id="4" name="Text 2"/>
          <p:cNvSpPr txBox="1"/>
          <p:nvPr/>
        </p:nvSpPr>
        <p:spPr>
          <a:xfrm>
            <a:off x="914400" y="1783080"/>
            <a:ext cx="4663440" cy="73152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CV builder</a:t>
            </a:r>
            <a:endParaRPr lang="en-US" sz="3600" dirty="0"/>
          </a:p>
        </p:txBody>
      </p:sp>
      <p:sp>
        <p:nvSpPr>
          <p:cNvPr id="5" name="Text 3"/>
          <p:cNvSpPr txBox="1"/>
          <p:nvPr/>
        </p:nvSpPr>
        <p:spPr>
          <a:xfrm>
            <a:off x="914400" y="2606040"/>
            <a:ext cx="4663440" cy="1371600"/>
          </a:xfrm>
          <a:prstGeom prst="rect">
            <a:avLst/>
          </a:prstGeom>
          <a:noFill/>
          <a:ln/>
        </p:spPr>
        <p:txBody>
          <a:bodyPr wrap="square" lIns="0" tIns="0" rIns="0" bIns="0" rtlCol="0" anchor="ctr"/>
          <a:lstStyle/>
          <a:p>
            <a:pPr indent="0" marL="0">
              <a:buNone/>
            </a:pPr>
            <a:r>
              <a:rPr lang="en-US" sz="2600" dirty="0">
                <a:solidFill>
                  <a:schemeClr val="tx1"/>
                </a:solidFill>
                <a:latin typeface="Arial" pitchFamily="34" charset="0"/>
                <a:ea typeface="Arial" pitchFamily="34" charset="-122"/>
                <a:cs typeface="Arial" pitchFamily="34" charset="-120"/>
              </a:rPr>
              <a:t>Writes your CV for the role you want, from your proven skills.</a:t>
            </a:r>
            <a:endParaRPr lang="en-US" sz="2600" dirty="0"/>
          </a:p>
        </p:txBody>
      </p:sp>
      <p:sp>
        <p:nvSpPr>
          <p:cNvPr id="6" name="Shape 4"/>
          <p:cNvSpPr/>
          <p:nvPr/>
        </p:nvSpPr>
        <p:spPr>
          <a:xfrm>
            <a:off x="6217920" y="1554480"/>
            <a:ext cx="5394960" cy="2651760"/>
          </a:xfrm>
          <a:prstGeom prst="rect">
            <a:avLst/>
          </a:prstGeom>
          <a:solidFill>
            <a:srgbClr val="F2F3F1"/>
          </a:solidFill>
          <a:ln w="38100">
            <a:solidFill>
              <a:srgbClr val="121212"/>
            </a:solidFill>
            <a:prstDash val="solid"/>
          </a:ln>
        </p:spPr>
      </p:sp>
      <p:sp>
        <p:nvSpPr>
          <p:cNvPr id="7" name="Text 5"/>
          <p:cNvSpPr txBox="1"/>
          <p:nvPr/>
        </p:nvSpPr>
        <p:spPr>
          <a:xfrm>
            <a:off x="6583680" y="1783080"/>
            <a:ext cx="4663440" cy="73152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CV assistant</a:t>
            </a:r>
            <a:endParaRPr lang="en-US" sz="3600" dirty="0"/>
          </a:p>
        </p:txBody>
      </p:sp>
      <p:sp>
        <p:nvSpPr>
          <p:cNvPr id="8" name="Text 6"/>
          <p:cNvSpPr txBox="1"/>
          <p:nvPr/>
        </p:nvSpPr>
        <p:spPr>
          <a:xfrm>
            <a:off x="6583680" y="2606040"/>
            <a:ext cx="4663440" cy="1371600"/>
          </a:xfrm>
          <a:prstGeom prst="rect">
            <a:avLst/>
          </a:prstGeom>
          <a:noFill/>
          <a:ln/>
        </p:spPr>
        <p:txBody>
          <a:bodyPr wrap="square" lIns="0" tIns="0" rIns="0" bIns="0" rtlCol="0" anchor="ctr"/>
          <a:lstStyle/>
          <a:p>
            <a:pPr indent="0" marL="0">
              <a:buNone/>
            </a:pPr>
            <a:r>
              <a:rPr lang="en-US" sz="2600" dirty="0">
                <a:solidFill>
                  <a:schemeClr val="tx1"/>
                </a:solidFill>
                <a:latin typeface="Arial" pitchFamily="34" charset="0"/>
                <a:ea typeface="Arial" pitchFamily="34" charset="-122"/>
                <a:cs typeface="Arial" pitchFamily="34" charset="-120"/>
              </a:rPr>
              <a:t>Chat with it to tailor your CV to a job ad. It asks before it adds anything.</a:t>
            </a:r>
            <a:endParaRPr lang="en-US" sz="2600" dirty="0"/>
          </a:p>
        </p:txBody>
      </p:sp>
      <p:sp>
        <p:nvSpPr>
          <p:cNvPr id="9" name="Text 7"/>
          <p:cNvSpPr txBox="1"/>
          <p:nvPr/>
        </p:nvSpPr>
        <p:spPr>
          <a:xfrm>
            <a:off x="548640" y="4572000"/>
            <a:ext cx="11064240" cy="68580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Nothing invented.</a:t>
            </a:r>
            <a:endParaRPr lang="en-US" sz="3600" dirty="0"/>
          </a:p>
        </p:txBody>
      </p:sp>
      <p:sp>
        <p:nvSpPr>
          <p:cNvPr id="10" name="Text 8"/>
          <p:cNvSpPr txBox="1"/>
          <p:nvPr/>
        </p:nvSpPr>
        <p:spPr>
          <a:xfrm>
            <a:off x="548640" y="5257800"/>
            <a:ext cx="11064240" cy="640080"/>
          </a:xfrm>
          <a:prstGeom prst="rect">
            <a:avLst/>
          </a:prstGeom>
          <a:noFill/>
          <a:ln/>
        </p:spPr>
        <p:txBody>
          <a:bodyPr wrap="square" lIns="0" tIns="0" rIns="0" bIns="0" rtlCol="0" anchor="ctr"/>
          <a:lstStyle/>
          <a:p>
            <a:pPr indent="0" marL="0">
              <a:buNone/>
            </a:pPr>
            <a:r>
              <a:rPr lang="en-US" sz="2800" dirty="0">
                <a:solidFill>
                  <a:schemeClr val="tx2"/>
                </a:solidFill>
                <a:latin typeface="Arial" pitchFamily="34" charset="0"/>
                <a:ea typeface="Arial" pitchFamily="34" charset="-122"/>
                <a:cs typeface="Arial" pitchFamily="34" charset="-120"/>
              </a:rPr>
              <a:t>Every line must come from your CV, your proof or your own words.</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What only Varity does</a:t>
            </a:r>
            <a:endParaRPr lang="en-US" sz="4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703320"/>
                <a:gridCol w="1143000"/>
                <a:gridCol w="1325880"/>
                <a:gridCol w="1417320"/>
                <a:gridCol w="1188720"/>
                <a:gridCol w="1143000"/>
                <a:gridCol w="1143000"/>
              </a:tblGrid>
              <a:tr h="640080">
                <a:tc>
                  <a:txBody>
                    <a:bodyPr/>
                    <a:lstStyle/>
                    <a:p>
                      <a:pPr indent="0" marL="0">
                        <a:buNone/>
                      </a:pPr>
                      <a:endParaRPr lang="en-US" sz="12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121212"/>
                          </a:solidFill>
                          <a:latin typeface="Arial" pitchFamily="34" charset="0"/>
                          <a:ea typeface="Arial" pitchFamily="34" charset="-122"/>
                          <a:cs typeface="Arial" pitchFamily="34" charset="-120"/>
                        </a:rPr>
                        <a:t>Jobscan</a:t>
                      </a:r>
                      <a:endParaRPr lang="en-US" sz="17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2F3F1"/>
                    </a:solidFill>
                  </a:tcPr>
                </a:tc>
                <a:tc>
                  <a:txBody>
                    <a:bodyPr/>
                    <a:lstStyle/>
                    <a:p>
                      <a:pPr algn="ctr" indent="0" marL="0">
                        <a:buNone/>
                      </a:pPr>
                      <a:r>
                        <a:rPr lang="en-US" sz="1700" b="1" dirty="0">
                          <a:solidFill>
                            <a:srgbClr val="121212"/>
                          </a:solidFill>
                          <a:latin typeface="Arial" pitchFamily="34" charset="0"/>
                          <a:ea typeface="Arial" pitchFamily="34" charset="-122"/>
                          <a:cs typeface="Arial" pitchFamily="34" charset="-120"/>
                        </a:rPr>
                        <a:t>JobStreet</a:t>
                      </a:r>
                      <a:endParaRPr lang="en-US" sz="17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2F3F1"/>
                    </a:solidFill>
                  </a:tcPr>
                </a:tc>
                <a:tc>
                  <a:txBody>
                    <a:bodyPr/>
                    <a:lstStyle/>
                    <a:p>
                      <a:pPr algn="ctr" indent="0" marL="0">
                        <a:buNone/>
                      </a:pPr>
                      <a:r>
                        <a:rPr lang="en-US" sz="1700" b="1" dirty="0">
                          <a:solidFill>
                            <a:srgbClr val="121212"/>
                          </a:solidFill>
                          <a:latin typeface="Arial" pitchFamily="34" charset="0"/>
                          <a:ea typeface="Arial" pitchFamily="34" charset="-122"/>
                          <a:cs typeface="Arial" pitchFamily="34" charset="-120"/>
                        </a:rPr>
                        <a:t>roadmap.sh</a:t>
                      </a:r>
                      <a:endParaRPr lang="en-US" sz="17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2F3F1"/>
                    </a:solidFill>
                  </a:tcPr>
                </a:tc>
                <a:tc>
                  <a:txBody>
                    <a:bodyPr/>
                    <a:lstStyle/>
                    <a:p>
                      <a:pPr algn="ctr" indent="0" marL="0">
                        <a:buNone/>
                      </a:pPr>
                      <a:r>
                        <a:rPr lang="en-US" sz="1700" b="1" dirty="0">
                          <a:solidFill>
                            <a:srgbClr val="121212"/>
                          </a:solidFill>
                          <a:latin typeface="Arial" pitchFamily="34" charset="0"/>
                          <a:ea typeface="Arial" pitchFamily="34" charset="-122"/>
                          <a:cs typeface="Arial" pitchFamily="34" charset="-120"/>
                        </a:rPr>
                        <a:t>Coursera</a:t>
                      </a:r>
                      <a:endParaRPr lang="en-US" sz="17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2F3F1"/>
                    </a:solidFill>
                  </a:tcPr>
                </a:tc>
                <a:tc>
                  <a:txBody>
                    <a:bodyPr/>
                    <a:lstStyle/>
                    <a:p>
                      <a:pPr algn="ctr" indent="0" marL="0">
                        <a:buNone/>
                      </a:pPr>
                      <a:r>
                        <a:rPr lang="en-US" sz="1700" b="1" dirty="0">
                          <a:solidFill>
                            <a:srgbClr val="121212"/>
                          </a:solidFill>
                          <a:latin typeface="Arial" pitchFamily="34" charset="0"/>
                          <a:ea typeface="Arial" pitchFamily="34" charset="-122"/>
                          <a:cs typeface="Arial" pitchFamily="34" charset="-120"/>
                        </a:rPr>
                        <a:t>LinkedIn</a:t>
                      </a:r>
                      <a:endParaRPr lang="en-US" sz="17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2F3F1"/>
                    </a:solidFill>
                  </a:tcPr>
                </a:tc>
                <a:tc>
                  <a:txBody>
                    <a:bodyPr/>
                    <a:lstStyle/>
                    <a:p>
                      <a:pPr algn="ctr" indent="0" marL="0">
                        <a:buNone/>
                      </a:pPr>
                      <a:r>
                        <a:rPr lang="en-US" sz="1700" b="1" dirty="0">
                          <a:solidFill>
                            <a:srgbClr val="121212"/>
                          </a:solidFill>
                          <a:latin typeface="Arial" pitchFamily="34" charset="0"/>
                          <a:ea typeface="Arial" pitchFamily="34" charset="-122"/>
                          <a:cs typeface="Arial" pitchFamily="34" charset="-120"/>
                        </a:rPr>
                        <a:t>Varity</a:t>
                      </a:r>
                      <a:endParaRPr lang="en-US" sz="17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CCC0A"/>
                    </a:solidFill>
                  </a:tcPr>
                </a:tc>
              </a:tr>
              <a:tr h="640080">
                <a:tc>
                  <a:txBody>
                    <a:bodyPr/>
                    <a:lstStyle/>
                    <a:p>
                      <a:pPr indent="0" marL="0">
                        <a:buNone/>
                      </a:pPr>
                      <a:r>
                        <a:rPr lang="en-US" sz="2000" dirty="0">
                          <a:solidFill>
                            <a:srgbClr val="121212"/>
                          </a:solidFill>
                          <a:latin typeface="Arial" pitchFamily="34" charset="0"/>
                          <a:ea typeface="Arial" pitchFamily="34" charset="-122"/>
                          <a:cs typeface="Arial" pitchFamily="34" charset="-120"/>
                        </a:rPr>
                        <a:t>Reads your CV</a:t>
                      </a:r>
                      <a:endParaRPr lang="en-US" sz="20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tcPr>
                </a:tc>
                <a:tc>
                  <a:txBody>
                    <a:bodyPr/>
                    <a:lstStyle/>
                    <a:p>
                      <a:pPr algn="ctr" indent="0" marL="0">
                        <a:buNone/>
                      </a:pPr>
                      <a:r>
                        <a:rPr lang="en-US" sz="2800" b="1" dirty="0">
                          <a:solidFill>
                            <a:srgbClr val="00843A"/>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66676B"/>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00843A"/>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121212"/>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2B3"/>
                    </a:solidFill>
                  </a:tcPr>
                </a:tc>
              </a:tr>
              <a:tr h="640080">
                <a:tc>
                  <a:txBody>
                    <a:bodyPr/>
                    <a:lstStyle/>
                    <a:p>
                      <a:pPr indent="0" marL="0">
                        <a:buNone/>
                      </a:pPr>
                      <a:r>
                        <a:rPr lang="en-US" sz="2000" dirty="0">
                          <a:solidFill>
                            <a:srgbClr val="121212"/>
                          </a:solidFill>
                          <a:latin typeface="Arial" pitchFamily="34" charset="0"/>
                          <a:ea typeface="Arial" pitchFamily="34" charset="-122"/>
                          <a:cs typeface="Arial" pitchFamily="34" charset="-120"/>
                        </a:rPr>
                        <a:t>Match % to a role</a:t>
                      </a:r>
                      <a:endParaRPr lang="en-US" sz="20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tcPr>
                </a:tc>
                <a:tc>
                  <a:txBody>
                    <a:bodyPr/>
                    <a:lstStyle/>
                    <a:p>
                      <a:pPr algn="ctr" indent="0" marL="0">
                        <a:buNone/>
                      </a:pPr>
                      <a:r>
                        <a:rPr lang="en-US" sz="2800" b="1" dirty="0">
                          <a:solidFill>
                            <a:srgbClr val="00843A"/>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00843A"/>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121212"/>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2B3"/>
                    </a:solidFill>
                  </a:tcPr>
                </a:tc>
              </a:tr>
              <a:tr h="640080">
                <a:tc>
                  <a:txBody>
                    <a:bodyPr/>
                    <a:lstStyle/>
                    <a:p>
                      <a:pPr indent="0" marL="0">
                        <a:buNone/>
                      </a:pPr>
                      <a:r>
                        <a:rPr lang="en-US" sz="2000" dirty="0">
                          <a:solidFill>
                            <a:srgbClr val="121212"/>
                          </a:solidFill>
                          <a:latin typeface="Arial" pitchFamily="34" charset="0"/>
                          <a:ea typeface="Arial" pitchFamily="34" charset="-122"/>
                          <a:cs typeface="Arial" pitchFamily="34" charset="-120"/>
                        </a:rPr>
                        <a:t>Learning plan</a:t>
                      </a:r>
                      <a:endParaRPr lang="en-US" sz="20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00843A"/>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00843A"/>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00843A"/>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121212"/>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2B3"/>
                    </a:solidFill>
                  </a:tcPr>
                </a:tc>
              </a:tr>
              <a:tr h="640080">
                <a:tc>
                  <a:txBody>
                    <a:bodyPr/>
                    <a:lstStyle/>
                    <a:p>
                      <a:pPr indent="0" marL="0">
                        <a:buNone/>
                      </a:pPr>
                      <a:r>
                        <a:rPr lang="en-US" sz="2000" b="1" dirty="0">
                          <a:solidFill>
                            <a:srgbClr val="121212"/>
                          </a:solidFill>
                          <a:latin typeface="Arial" pitchFamily="34" charset="0"/>
                          <a:ea typeface="Arial" pitchFamily="34" charset="-122"/>
                          <a:cs typeface="Arial" pitchFamily="34" charset="-120"/>
                        </a:rPr>
                        <a:t>Each skill shows its proof</a:t>
                      </a:r>
                      <a:endParaRPr lang="en-US" sz="20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121212"/>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2B3"/>
                    </a:solidFill>
                  </a:tcPr>
                </a:tc>
              </a:tr>
              <a:tr h="640080">
                <a:tc>
                  <a:txBody>
                    <a:bodyPr/>
                    <a:lstStyle/>
                    <a:p>
                      <a:pPr indent="0" marL="0">
                        <a:buNone/>
                      </a:pPr>
                      <a:r>
                        <a:rPr lang="en-US" sz="2000" b="1" dirty="0">
                          <a:solidFill>
                            <a:srgbClr val="121212"/>
                          </a:solidFill>
                          <a:latin typeface="Arial" pitchFamily="34" charset="0"/>
                          <a:ea typeface="Arial" pitchFamily="34" charset="-122"/>
                          <a:cs typeface="Arial" pitchFamily="34" charset="-120"/>
                        </a:rPr>
                        <a:t>Project from your skill gap</a:t>
                      </a:r>
                      <a:endParaRPr lang="en-US" sz="20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66676B"/>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66676B"/>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121212"/>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2B3"/>
                    </a:solidFill>
                  </a:tcPr>
                </a:tc>
              </a:tr>
              <a:tr h="640080">
                <a:tc>
                  <a:txBody>
                    <a:bodyPr/>
                    <a:lstStyle/>
                    <a:p>
                      <a:pPr indent="0" marL="0">
                        <a:buNone/>
                      </a:pPr>
                      <a:r>
                        <a:rPr lang="en-US" sz="2000" b="1" dirty="0">
                          <a:solidFill>
                            <a:srgbClr val="121212"/>
                          </a:solidFill>
                          <a:latin typeface="Arial" pitchFamily="34" charset="0"/>
                          <a:ea typeface="Arial" pitchFamily="34" charset="-122"/>
                          <a:cs typeface="Arial" pitchFamily="34" charset="-120"/>
                        </a:rPr>
                        <a:t>AI review of your GitHub</a:t>
                      </a:r>
                      <a:endParaRPr lang="en-US" sz="20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FFF"/>
                    </a:solidFill>
                  </a:tcPr>
                </a:tc>
                <a:tc>
                  <a:txBody>
                    <a:bodyPr/>
                    <a:lstStyle/>
                    <a:p>
                      <a:pPr algn="ctr" indent="0" marL="0">
                        <a:buNone/>
                      </a:pPr>
                      <a:r>
                        <a:rPr lang="en-US" sz="2800" b="1" dirty="0">
                          <a:solidFill>
                            <a:srgbClr val="121212"/>
                          </a:solidFill>
                          <a:latin typeface="Arial" pitchFamily="34" charset="0"/>
                          <a:ea typeface="Arial" pitchFamily="34" charset="-122"/>
                          <a:cs typeface="Arial" pitchFamily="34" charset="-120"/>
                        </a:rPr>
                        <a:t>✓</a:t>
                      </a:r>
                      <a:endParaRPr lang="en-US" sz="2800" dirty="0">
                        <a:latin typeface="Arial" charset="0"/>
                        <a:ea typeface="Arial" charset="0"/>
                        <a:cs typeface="Arial" charset="0"/>
                      </a:endParaRPr>
                    </a:p>
                  </a:txBody>
                  <a:tcPr marL="91440" marR="91440" marT="45720" marB="45720" anchor="ctr">
                    <a:lnL w="12700" cap="flat" cmpd="sng" algn="ctr">
                      <a:solidFill>
                        <a:srgbClr val="D6D7D4"/>
                      </a:solidFill>
                      <a:prstDash val="solid"/>
                      <a:round/>
                      <a:headEnd type="none" w="med" len="med"/>
                      <a:tailEnd type="none" w="med" len="med"/>
                    </a:lnL>
                    <a:lnR w="12700" cap="flat" cmpd="sng" algn="ctr">
                      <a:solidFill>
                        <a:srgbClr val="D6D7D4"/>
                      </a:solidFill>
                      <a:prstDash val="solid"/>
                      <a:round/>
                      <a:headEnd type="none" w="med" len="med"/>
                      <a:tailEnd type="none" w="med" len="med"/>
                    </a:lnR>
                    <a:lnT w="12700" cap="flat" cmpd="sng" algn="ctr">
                      <a:solidFill>
                        <a:srgbClr val="D6D7D4"/>
                      </a:solidFill>
                      <a:prstDash val="solid"/>
                      <a:round/>
                      <a:headEnd type="none" w="med" len="med"/>
                      <a:tailEnd type="none" w="med" len="med"/>
                    </a:lnT>
                    <a:lnB w="12700" cap="flat" cmpd="sng" algn="ctr">
                      <a:solidFill>
                        <a:srgbClr val="D6D7D4"/>
                      </a:solidFill>
                      <a:prstDash val="solid"/>
                      <a:round/>
                      <a:headEnd type="none" w="med" len="med"/>
                      <a:tailEnd type="none" w="med" len="med"/>
                    </a:lnB>
                    <a:solidFill>
                      <a:srgbClr val="FFF2B3"/>
                    </a:solidFill>
                  </a:tcPr>
                </a:tc>
              </a:tr>
            </a:tbl>
          </a:graphicData>
        </a:graphic>
      </p:graphicFrame>
      <p:sp>
        <p:nvSpPr>
          <p:cNvPr id="4" name="Text 1"/>
          <p:cNvSpPr txBox="1"/>
          <p:nvPr/>
        </p:nvSpPr>
        <p:spPr>
          <a:xfrm>
            <a:off x="548640" y="6172200"/>
            <a:ext cx="5486400" cy="365760"/>
          </a:xfrm>
          <a:prstGeom prst="rect">
            <a:avLst/>
          </a:prstGeom>
          <a:noFill/>
          <a:ln/>
        </p:spPr>
        <p:txBody>
          <a:bodyPr wrap="square" lIns="0" tIns="0" rIns="0" bIns="0" rtlCol="0" anchor="ctr"/>
          <a:lstStyle/>
          <a:p>
            <a:pPr indent="0" marL="0">
              <a:buNone/>
            </a:pPr>
            <a:r>
              <a:rPr lang="en-US" sz="1600" dirty="0">
                <a:solidFill>
                  <a:schemeClr val="tx2"/>
                </a:solidFill>
                <a:latin typeface="Arial" pitchFamily="34" charset="0"/>
                <a:ea typeface="Arial" pitchFamily="34" charset="-122"/>
                <a:cs typeface="Arial" pitchFamily="34" charset="-120"/>
              </a:rPr>
              <a:t>✓ yes    ~ partly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ctr"/>
          <a:lstStyle/>
          <a:p>
            <a:pPr algn="l" indent="0" marL="0">
              <a:buNone/>
            </a:pPr>
            <a:r>
              <a:rPr lang="en-US" sz="7200" b="1" dirty="0">
                <a:solidFill>
                  <a:schemeClr val="bg1"/>
                </a:solidFill>
              </a:rPr>
              <a:t>Live demo</a:t>
            </a:r>
            <a:endParaRPr lang="en-US" sz="7200" dirty="0"/>
          </a:p>
        </p:txBody>
      </p:sp>
      <p:sp>
        <p:nvSpPr>
          <p:cNvPr id="3" name="Text 1"/>
          <p:cNvSpPr txBox="1"/>
          <p:nvPr/>
        </p:nvSpPr>
        <p:spPr>
          <a:xfrm>
            <a:off x="731520" y="3520440"/>
            <a:ext cx="10698480" cy="1097280"/>
          </a:xfrm>
          <a:prstGeom prst="rect">
            <a:avLst/>
          </a:prstGeom>
          <a:noFill/>
          <a:ln/>
        </p:spPr>
        <p:txBody>
          <a:bodyPr wrap="square" lIns="0" tIns="0" rIns="0" bIns="0" rtlCol="0" anchor="ctr"/>
          <a:lstStyle/>
          <a:p>
            <a:pPr indent="0" marL="0">
              <a:buNone/>
            </a:pPr>
            <a:r>
              <a:rPr lang="en-US" sz="3400" dirty="0">
                <a:solidFill>
                  <a:schemeClr val="bg1"/>
                </a:solidFill>
                <a:latin typeface="Arial" pitchFamily="34" charset="0"/>
                <a:ea typeface="Arial" pitchFamily="34" charset="-122"/>
                <a:cs typeface="Arial" pitchFamily="34" charset="-120"/>
              </a:rPr>
              <a:t>Aina, a sample junior developer, from CV to a proven skill.</a:t>
            </a:r>
            <a:endParaRPr lang="en-US" sz="3400" dirty="0"/>
          </a:p>
        </p:txBody>
      </p:sp>
      <p:sp>
        <p:nvSpPr>
          <p:cNvPr id="4" name="Text 2"/>
          <p:cNvSpPr txBox="1"/>
          <p:nvPr/>
        </p:nvSpPr>
        <p:spPr>
          <a:xfrm>
            <a:off x="731520" y="5760720"/>
            <a:ext cx="10698480" cy="457200"/>
          </a:xfrm>
          <a:prstGeom prst="rect">
            <a:avLst/>
          </a:prstGeom>
          <a:noFill/>
          <a:ln/>
        </p:spPr>
        <p:txBody>
          <a:bodyPr wrap="square" lIns="0" tIns="0" rIns="0" bIns="0" rtlCol="0" anchor="ctr"/>
          <a:lstStyle/>
          <a:p>
            <a:pPr indent="0" marL="0">
              <a:buNone/>
            </a:pPr>
            <a:r>
              <a:rPr lang="en-US" sz="2000" dirty="0">
                <a:solidFill>
                  <a:schemeClr val="bg1"/>
                </a:solidFill>
                <a:latin typeface="Arial" pitchFamily="34" charset="0"/>
                <a:ea typeface="Arial" pitchFamily="34" charset="-122"/>
                <a:cs typeface="Arial" pitchFamily="34" charset="-120"/>
              </a:rPr>
              <a:t>verity--eezhan0805.replit.app</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How it works: facts from code, AI only points</a:t>
            </a:r>
            <a:endParaRPr lang="en-US" sz="4000" dirty="0"/>
          </a:p>
        </p:txBody>
      </p:sp>
      <p:sp>
        <p:nvSpPr>
          <p:cNvPr id="3" name="Shape 1"/>
          <p:cNvSpPr/>
          <p:nvPr/>
        </p:nvSpPr>
        <p:spPr>
          <a:xfrm>
            <a:off x="1188720" y="2103120"/>
            <a:ext cx="9811512" cy="0"/>
          </a:xfrm>
          <a:prstGeom prst="line">
            <a:avLst/>
          </a:prstGeom>
          <a:noFill/>
          <a:ln w="114300">
            <a:solidFill>
              <a:srgbClr val="0039A6"/>
            </a:solidFill>
            <a:prstDash val="solid"/>
          </a:ln>
        </p:spPr>
      </p:sp>
      <p:sp>
        <p:nvSpPr>
          <p:cNvPr id="4" name="Shape 2"/>
          <p:cNvSpPr/>
          <p:nvPr/>
        </p:nvSpPr>
        <p:spPr>
          <a:xfrm>
            <a:off x="914400" y="1828800"/>
            <a:ext cx="548640" cy="548640"/>
          </a:xfrm>
          <a:prstGeom prst="ellipse">
            <a:avLst/>
          </a:prstGeom>
          <a:solidFill>
            <a:srgbClr val="121212"/>
          </a:solidFill>
          <a:ln w="38100">
            <a:solidFill>
              <a:srgbClr val="121212"/>
            </a:solidFill>
            <a:prstDash val="solid"/>
          </a:ln>
        </p:spPr>
      </p:sp>
      <p:sp>
        <p:nvSpPr>
          <p:cNvPr id="5" name="Text 3"/>
          <p:cNvSpPr txBox="1"/>
          <p:nvPr/>
        </p:nvSpPr>
        <p:spPr>
          <a:xfrm>
            <a:off x="228600" y="2606040"/>
            <a:ext cx="19202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Job posts</a:t>
            </a:r>
            <a:endParaRPr lang="en-US" sz="2200" dirty="0"/>
          </a:p>
        </p:txBody>
      </p:sp>
      <p:sp>
        <p:nvSpPr>
          <p:cNvPr id="6" name="Shape 4"/>
          <p:cNvSpPr/>
          <p:nvPr/>
        </p:nvSpPr>
        <p:spPr>
          <a:xfrm>
            <a:off x="2876702" y="1828800"/>
            <a:ext cx="548640" cy="548640"/>
          </a:xfrm>
          <a:prstGeom prst="ellipse">
            <a:avLst/>
          </a:prstGeom>
          <a:solidFill>
            <a:srgbClr val="FFFFFF"/>
          </a:solidFill>
          <a:ln w="38100">
            <a:solidFill>
              <a:srgbClr val="121212"/>
            </a:solidFill>
            <a:prstDash val="solid"/>
          </a:ln>
        </p:spPr>
      </p:sp>
      <p:sp>
        <p:nvSpPr>
          <p:cNvPr id="7" name="Text 5"/>
          <p:cNvSpPr txBox="1"/>
          <p:nvPr/>
        </p:nvSpPr>
        <p:spPr>
          <a:xfrm>
            <a:off x="2190902" y="2606040"/>
            <a:ext cx="19202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Role labels</a:t>
            </a:r>
            <a:endParaRPr lang="en-US" sz="2200" dirty="0"/>
          </a:p>
        </p:txBody>
      </p:sp>
      <p:sp>
        <p:nvSpPr>
          <p:cNvPr id="8" name="Shape 6"/>
          <p:cNvSpPr/>
          <p:nvPr/>
        </p:nvSpPr>
        <p:spPr>
          <a:xfrm>
            <a:off x="4839005" y="1828800"/>
            <a:ext cx="548640" cy="548640"/>
          </a:xfrm>
          <a:prstGeom prst="ellipse">
            <a:avLst/>
          </a:prstGeom>
          <a:solidFill>
            <a:srgbClr val="121212"/>
          </a:solidFill>
          <a:ln w="38100">
            <a:solidFill>
              <a:srgbClr val="121212"/>
            </a:solidFill>
            <a:prstDash val="solid"/>
          </a:ln>
        </p:spPr>
      </p:sp>
      <p:sp>
        <p:nvSpPr>
          <p:cNvPr id="9" name="Text 7"/>
          <p:cNvSpPr txBox="1"/>
          <p:nvPr/>
        </p:nvSpPr>
        <p:spPr>
          <a:xfrm>
            <a:off x="4153205" y="2606040"/>
            <a:ext cx="19202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Forecast</a:t>
            </a:r>
            <a:endParaRPr lang="en-US" sz="2200" dirty="0"/>
          </a:p>
        </p:txBody>
      </p:sp>
      <p:sp>
        <p:nvSpPr>
          <p:cNvPr id="10" name="Shape 8"/>
          <p:cNvSpPr/>
          <p:nvPr/>
        </p:nvSpPr>
        <p:spPr>
          <a:xfrm>
            <a:off x="6801307" y="1828800"/>
            <a:ext cx="548640" cy="548640"/>
          </a:xfrm>
          <a:prstGeom prst="ellipse">
            <a:avLst/>
          </a:prstGeom>
          <a:solidFill>
            <a:srgbClr val="FFFFFF"/>
          </a:solidFill>
          <a:ln w="38100">
            <a:solidFill>
              <a:srgbClr val="121212"/>
            </a:solidFill>
            <a:prstDash val="solid"/>
          </a:ln>
        </p:spPr>
      </p:sp>
      <p:sp>
        <p:nvSpPr>
          <p:cNvPr id="11" name="Text 9"/>
          <p:cNvSpPr txBox="1"/>
          <p:nvPr/>
        </p:nvSpPr>
        <p:spPr>
          <a:xfrm>
            <a:off x="6115507" y="2606040"/>
            <a:ext cx="19202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Your CV</a:t>
            </a:r>
            <a:endParaRPr lang="en-US" sz="2200" dirty="0"/>
          </a:p>
        </p:txBody>
      </p:sp>
      <p:sp>
        <p:nvSpPr>
          <p:cNvPr id="12" name="Shape 10"/>
          <p:cNvSpPr/>
          <p:nvPr/>
        </p:nvSpPr>
        <p:spPr>
          <a:xfrm>
            <a:off x="8763610" y="1828800"/>
            <a:ext cx="548640" cy="548640"/>
          </a:xfrm>
          <a:prstGeom prst="ellipse">
            <a:avLst/>
          </a:prstGeom>
          <a:solidFill>
            <a:srgbClr val="121212"/>
          </a:solidFill>
          <a:ln w="38100">
            <a:solidFill>
              <a:srgbClr val="121212"/>
            </a:solidFill>
            <a:prstDash val="solid"/>
          </a:ln>
        </p:spPr>
      </p:sp>
      <p:sp>
        <p:nvSpPr>
          <p:cNvPr id="13" name="Text 11"/>
          <p:cNvSpPr txBox="1"/>
          <p:nvPr/>
        </p:nvSpPr>
        <p:spPr>
          <a:xfrm>
            <a:off x="8077810" y="2606040"/>
            <a:ext cx="19202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Match, plan</a:t>
            </a:r>
            <a:endParaRPr lang="en-US" sz="2200" dirty="0"/>
          </a:p>
        </p:txBody>
      </p:sp>
      <p:sp>
        <p:nvSpPr>
          <p:cNvPr id="14" name="Shape 12"/>
          <p:cNvSpPr/>
          <p:nvPr/>
        </p:nvSpPr>
        <p:spPr>
          <a:xfrm>
            <a:off x="10725912" y="1828800"/>
            <a:ext cx="548640" cy="548640"/>
          </a:xfrm>
          <a:prstGeom prst="ellipse">
            <a:avLst/>
          </a:prstGeom>
          <a:solidFill>
            <a:srgbClr val="FFFFFF"/>
          </a:solidFill>
          <a:ln w="38100">
            <a:solidFill>
              <a:srgbClr val="121212"/>
            </a:solidFill>
            <a:prstDash val="solid"/>
          </a:ln>
        </p:spPr>
      </p:sp>
      <p:sp>
        <p:nvSpPr>
          <p:cNvPr id="15" name="Text 13"/>
          <p:cNvSpPr txBox="1"/>
          <p:nvPr/>
        </p:nvSpPr>
        <p:spPr>
          <a:xfrm>
            <a:off x="10040112" y="2606040"/>
            <a:ext cx="19202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Project review</a:t>
            </a:r>
            <a:endParaRPr lang="en-US" sz="2200" dirty="0"/>
          </a:p>
        </p:txBody>
      </p:sp>
      <p:sp>
        <p:nvSpPr>
          <p:cNvPr id="16" name="Shape 14"/>
          <p:cNvSpPr/>
          <p:nvPr/>
        </p:nvSpPr>
        <p:spPr>
          <a:xfrm>
            <a:off x="708660" y="3497580"/>
            <a:ext cx="411480" cy="411480"/>
          </a:xfrm>
          <a:prstGeom prst="ellipse">
            <a:avLst/>
          </a:prstGeom>
          <a:solidFill>
            <a:srgbClr val="121212"/>
          </a:solidFill>
          <a:ln w="38100">
            <a:solidFill>
              <a:srgbClr val="121212"/>
            </a:solidFill>
            <a:prstDash val="solid"/>
          </a:ln>
        </p:spPr>
      </p:sp>
      <p:sp>
        <p:nvSpPr>
          <p:cNvPr id="17" name="Text 15"/>
          <p:cNvSpPr txBox="1"/>
          <p:nvPr/>
        </p:nvSpPr>
        <p:spPr>
          <a:xfrm>
            <a:off x="1325880" y="3474720"/>
            <a:ext cx="3657600" cy="457200"/>
          </a:xfrm>
          <a:prstGeom prst="rect">
            <a:avLst/>
          </a:prstGeom>
          <a:noFill/>
          <a:ln/>
        </p:spPr>
        <p:txBody>
          <a:bodyPr wrap="square" lIns="0" tIns="0" rIns="0" bIns="0" rtlCol="0" anchor="ctr"/>
          <a:lstStyle/>
          <a:p>
            <a:pPr indent="0" marL="0">
              <a:buNone/>
            </a:pPr>
            <a:r>
              <a:rPr lang="en-US" sz="2600" b="1" dirty="0">
                <a:solidFill>
                  <a:schemeClr val="tx1"/>
                </a:solidFill>
                <a:latin typeface="Arial" pitchFamily="34" charset="0"/>
                <a:ea typeface="Arial" pitchFamily="34" charset="-122"/>
                <a:cs typeface="Arial" pitchFamily="34" charset="-120"/>
              </a:rPr>
              <a:t>Code only</a:t>
            </a:r>
            <a:endParaRPr lang="en-US" sz="2600" dirty="0"/>
          </a:p>
        </p:txBody>
      </p:sp>
      <p:sp>
        <p:nvSpPr>
          <p:cNvPr id="18" name="Shape 16"/>
          <p:cNvSpPr/>
          <p:nvPr/>
        </p:nvSpPr>
        <p:spPr>
          <a:xfrm>
            <a:off x="5280660" y="3497580"/>
            <a:ext cx="411480" cy="411480"/>
          </a:xfrm>
          <a:prstGeom prst="ellipse">
            <a:avLst/>
          </a:prstGeom>
          <a:solidFill>
            <a:srgbClr val="FFFFFF"/>
          </a:solidFill>
          <a:ln w="38100">
            <a:solidFill>
              <a:srgbClr val="121212"/>
            </a:solidFill>
            <a:prstDash val="solid"/>
          </a:ln>
        </p:spPr>
      </p:sp>
      <p:sp>
        <p:nvSpPr>
          <p:cNvPr id="19" name="Text 17"/>
          <p:cNvSpPr txBox="1"/>
          <p:nvPr/>
        </p:nvSpPr>
        <p:spPr>
          <a:xfrm>
            <a:off x="5897880" y="3474720"/>
            <a:ext cx="5669280" cy="457200"/>
          </a:xfrm>
          <a:prstGeom prst="rect">
            <a:avLst/>
          </a:prstGeom>
          <a:noFill/>
          <a:ln/>
        </p:spPr>
        <p:txBody>
          <a:bodyPr wrap="square" lIns="0" tIns="0" rIns="0" bIns="0" rtlCol="0" anchor="ctr"/>
          <a:lstStyle/>
          <a:p>
            <a:pPr indent="0" marL="0">
              <a:buNone/>
            </a:pPr>
            <a:r>
              <a:rPr lang="en-US" sz="2600" b="1" dirty="0">
                <a:solidFill>
                  <a:schemeClr val="tx1"/>
                </a:solidFill>
                <a:latin typeface="Arial" pitchFamily="34" charset="0"/>
                <a:ea typeface="Arial" pitchFamily="34" charset="-122"/>
                <a:cs typeface="Arial" pitchFamily="34" charset="-120"/>
              </a:rPr>
              <a:t>AI points, code checks</a:t>
            </a:r>
            <a:endParaRPr lang="en-US" sz="2600" dirty="0"/>
          </a:p>
        </p:txBody>
      </p:sp>
      <p:sp>
        <p:nvSpPr>
          <p:cNvPr id="20" name="Shape 18"/>
          <p:cNvSpPr/>
          <p:nvPr/>
        </p:nvSpPr>
        <p:spPr>
          <a:xfrm>
            <a:off x="548640" y="4343400"/>
            <a:ext cx="11064240" cy="0"/>
          </a:xfrm>
          <a:prstGeom prst="line">
            <a:avLst/>
          </a:prstGeom>
          <a:noFill/>
          <a:ln w="19050">
            <a:solidFill>
              <a:srgbClr val="D6D7D4"/>
            </a:solidFill>
            <a:prstDash val="solid"/>
          </a:ln>
        </p:spPr>
      </p:sp>
      <p:sp>
        <p:nvSpPr>
          <p:cNvPr id="21" name="Text 19"/>
          <p:cNvSpPr txBox="1"/>
          <p:nvPr/>
        </p:nvSpPr>
        <p:spPr>
          <a:xfrm>
            <a:off x="548640" y="4526280"/>
            <a:ext cx="3474720" cy="914400"/>
          </a:xfrm>
          <a:prstGeom prst="rect">
            <a:avLst/>
          </a:prstGeom>
          <a:noFill/>
          <a:ln/>
        </p:spPr>
        <p:txBody>
          <a:bodyPr wrap="square" lIns="0" tIns="0" rIns="0" bIns="0" rtlCol="0" anchor="ctr"/>
          <a:lstStyle/>
          <a:p>
            <a:pPr indent="0" marL="0">
              <a:buNone/>
            </a:pPr>
            <a:r>
              <a:rPr lang="en-US" sz="5400" b="1" dirty="0">
                <a:solidFill>
                  <a:schemeClr val="accent2"/>
                </a:solidFill>
                <a:latin typeface="Arial" pitchFamily="34" charset="0"/>
                <a:ea typeface="Arial" pitchFamily="34" charset="-122"/>
                <a:cs typeface="Arial" pitchFamily="34" charset="-120"/>
              </a:rPr>
              <a:t>48,491</a:t>
            </a:r>
            <a:endParaRPr lang="en-US" sz="5400" dirty="0"/>
          </a:p>
        </p:txBody>
      </p:sp>
      <p:sp>
        <p:nvSpPr>
          <p:cNvPr id="22" name="Text 20"/>
          <p:cNvSpPr txBox="1"/>
          <p:nvPr/>
        </p:nvSpPr>
        <p:spPr>
          <a:xfrm>
            <a:off x="548640" y="5440680"/>
            <a:ext cx="3474720" cy="7315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real job posts, daily</a:t>
            </a:r>
            <a:endParaRPr lang="en-US" sz="2000" dirty="0"/>
          </a:p>
        </p:txBody>
      </p:sp>
      <p:sp>
        <p:nvSpPr>
          <p:cNvPr id="23" name="Text 21"/>
          <p:cNvSpPr txBox="1"/>
          <p:nvPr/>
        </p:nvSpPr>
        <p:spPr>
          <a:xfrm>
            <a:off x="4297680" y="4526280"/>
            <a:ext cx="3474720" cy="914400"/>
          </a:xfrm>
          <a:prstGeom prst="rect">
            <a:avLst/>
          </a:prstGeom>
          <a:noFill/>
          <a:ln/>
        </p:spPr>
        <p:txBody>
          <a:bodyPr wrap="square" lIns="0" tIns="0" rIns="0" bIns="0" rtlCol="0" anchor="ctr"/>
          <a:lstStyle/>
          <a:p>
            <a:pPr indent="0" marL="0">
              <a:buNone/>
            </a:pPr>
            <a:r>
              <a:rPr lang="en-US" sz="5400" b="1" dirty="0">
                <a:solidFill>
                  <a:schemeClr val="accent2"/>
                </a:solidFill>
                <a:latin typeface="Arial" pitchFamily="34" charset="0"/>
                <a:ea typeface="Arial" pitchFamily="34" charset="-122"/>
                <a:cs typeface="Arial" pitchFamily="34" charset="-120"/>
              </a:rPr>
              <a:t>94%</a:t>
            </a:r>
            <a:endParaRPr lang="en-US" sz="5400" dirty="0"/>
          </a:p>
        </p:txBody>
      </p:sp>
      <p:sp>
        <p:nvSpPr>
          <p:cNvPr id="24" name="Text 22"/>
          <p:cNvSpPr txBox="1"/>
          <p:nvPr/>
        </p:nvSpPr>
        <p:spPr>
          <a:xfrm>
            <a:off x="4297680" y="5440680"/>
            <a:ext cx="3474720" cy="7315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of results inside our forecast range</a:t>
            </a:r>
            <a:endParaRPr lang="en-US" sz="2000" dirty="0"/>
          </a:p>
        </p:txBody>
      </p:sp>
      <p:sp>
        <p:nvSpPr>
          <p:cNvPr id="25" name="Text 23"/>
          <p:cNvSpPr txBox="1"/>
          <p:nvPr/>
        </p:nvSpPr>
        <p:spPr>
          <a:xfrm>
            <a:off x="8046720" y="4526280"/>
            <a:ext cx="3474720" cy="914400"/>
          </a:xfrm>
          <a:prstGeom prst="rect">
            <a:avLst/>
          </a:prstGeom>
          <a:noFill/>
          <a:ln/>
        </p:spPr>
        <p:txBody>
          <a:bodyPr wrap="square" lIns="0" tIns="0" rIns="0" bIns="0" rtlCol="0" anchor="ctr"/>
          <a:lstStyle/>
          <a:p>
            <a:pPr indent="0" marL="0">
              <a:buNone/>
            </a:pPr>
            <a:r>
              <a:rPr lang="en-US" sz="5400" b="1" dirty="0">
                <a:solidFill>
                  <a:schemeClr val="accent2"/>
                </a:solidFill>
                <a:latin typeface="Arial" pitchFamily="34" charset="0"/>
                <a:ea typeface="Arial" pitchFamily="34" charset="-122"/>
                <a:cs typeface="Arial" pitchFamily="34" charset="-120"/>
              </a:rPr>
              <a:t>0</a:t>
            </a:r>
            <a:endParaRPr lang="en-US" sz="5400" dirty="0"/>
          </a:p>
        </p:txBody>
      </p:sp>
      <p:sp>
        <p:nvSpPr>
          <p:cNvPr id="26" name="Text 24"/>
          <p:cNvSpPr txBox="1"/>
          <p:nvPr/>
        </p:nvSpPr>
        <p:spPr>
          <a:xfrm>
            <a:off x="8046720" y="5440680"/>
            <a:ext cx="3474720" cy="7315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numbers made up by AI</a:t>
            </a:r>
            <a:endParaRPr lang="en-US" sz="2000" dirty="0"/>
          </a:p>
        </p:txBody>
      </p:sp>
      <p:sp>
        <p:nvSpPr>
          <p:cNvPr id="27" name="Text 25"/>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Forecast range: rolling backtest Nov 2023 to Oct 2025, 40 skills (data/backtest.json). Python FastAPI on Replit; data refreshes daily.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AI trend signals, checked by a jury</a:t>
            </a:r>
            <a:endParaRPr lang="en-US" sz="4000" dirty="0"/>
          </a:p>
        </p:txBody>
      </p:sp>
      <p:sp>
        <p:nvSpPr>
          <p:cNvPr id="3" name="Shape 1"/>
          <p:cNvSpPr/>
          <p:nvPr/>
        </p:nvSpPr>
        <p:spPr>
          <a:xfrm>
            <a:off x="548640" y="1554480"/>
            <a:ext cx="2560320" cy="2468880"/>
          </a:xfrm>
          <a:prstGeom prst="rect">
            <a:avLst/>
          </a:prstGeom>
          <a:solidFill>
            <a:srgbClr val="FFFFFF"/>
          </a:solidFill>
          <a:ln w="38100">
            <a:solidFill>
              <a:srgbClr val="121212"/>
            </a:solidFill>
            <a:prstDash val="solid"/>
          </a:ln>
        </p:spPr>
      </p:sp>
      <p:sp>
        <p:nvSpPr>
          <p:cNvPr id="4" name="Text 2"/>
          <p:cNvSpPr txBox="1"/>
          <p:nvPr/>
        </p:nvSpPr>
        <p:spPr>
          <a:xfrm>
            <a:off x="731520" y="1783080"/>
            <a:ext cx="219456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AI news</a:t>
            </a:r>
            <a:endParaRPr lang="en-US" sz="2800" dirty="0"/>
          </a:p>
        </p:txBody>
      </p:sp>
      <p:sp>
        <p:nvSpPr>
          <p:cNvPr id="5" name="Text 3"/>
          <p:cNvSpPr txBox="1"/>
          <p:nvPr/>
        </p:nvSpPr>
        <p:spPr>
          <a:xfrm>
            <a:off x="731520" y="2514600"/>
            <a:ext cx="2194560" cy="1371600"/>
          </a:xfrm>
          <a:prstGeom prst="rect">
            <a:avLst/>
          </a:prstGeom>
          <a:noFill/>
          <a:ln/>
        </p:spPr>
        <p:txBody>
          <a:bodyPr wrap="square" lIns="0" tIns="0" rIns="0" bIns="0" rtlCol="0" anchor="ctr"/>
          <a:lstStyle/>
          <a:p>
            <a:pPr algn="ctr" indent="0" marL="0">
              <a:buNone/>
            </a:pPr>
            <a:r>
              <a:rPr lang="en-US" sz="2000" dirty="0">
                <a:solidFill>
                  <a:schemeClr val="tx1"/>
                </a:solidFill>
                <a:latin typeface="Arial" pitchFamily="34" charset="0"/>
                <a:ea typeface="Arial" pitchFamily="34" charset="-122"/>
                <a:cs typeface="Arial" pitchFamily="34" charset="-120"/>
              </a:rPr>
              <a:t>Official, research and community sources</a:t>
            </a:r>
            <a:endParaRPr lang="en-US" sz="2000" dirty="0"/>
          </a:p>
        </p:txBody>
      </p:sp>
      <p:sp>
        <p:nvSpPr>
          <p:cNvPr id="6" name="Shape 4"/>
          <p:cNvSpPr/>
          <p:nvPr/>
        </p:nvSpPr>
        <p:spPr>
          <a:xfrm>
            <a:off x="3136392" y="2560320"/>
            <a:ext cx="274320" cy="457200"/>
          </a:xfrm>
          <a:prstGeom prst="rightArrow">
            <a:avLst/>
          </a:prstGeom>
          <a:solidFill>
            <a:srgbClr val="0039A6"/>
          </a:solidFill>
          <a:ln w="12700">
            <a:solidFill>
              <a:srgbClr val="0039A6"/>
            </a:solidFill>
            <a:prstDash val="solid"/>
          </a:ln>
        </p:spPr>
      </p:sp>
      <p:sp>
        <p:nvSpPr>
          <p:cNvPr id="7" name="Shape 5"/>
          <p:cNvSpPr/>
          <p:nvPr/>
        </p:nvSpPr>
        <p:spPr>
          <a:xfrm>
            <a:off x="3429000" y="1554480"/>
            <a:ext cx="2560320" cy="2468880"/>
          </a:xfrm>
          <a:prstGeom prst="rect">
            <a:avLst/>
          </a:prstGeom>
          <a:solidFill>
            <a:srgbClr val="FFFFFF"/>
          </a:solidFill>
          <a:ln w="38100">
            <a:solidFill>
              <a:srgbClr val="121212"/>
            </a:solidFill>
            <a:prstDash val="solid"/>
          </a:ln>
        </p:spPr>
      </p:sp>
      <p:sp>
        <p:nvSpPr>
          <p:cNvPr id="8" name="Text 6"/>
          <p:cNvSpPr txBox="1"/>
          <p:nvPr/>
        </p:nvSpPr>
        <p:spPr>
          <a:xfrm>
            <a:off x="3611880" y="1783080"/>
            <a:ext cx="219456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Ranked</a:t>
            </a:r>
            <a:endParaRPr lang="en-US" sz="2800" dirty="0"/>
          </a:p>
        </p:txBody>
      </p:sp>
      <p:sp>
        <p:nvSpPr>
          <p:cNvPr id="9" name="Text 7"/>
          <p:cNvSpPr txBox="1"/>
          <p:nvPr/>
        </p:nvSpPr>
        <p:spPr>
          <a:xfrm>
            <a:off x="3611880" y="2514600"/>
            <a:ext cx="2194560" cy="1371600"/>
          </a:xfrm>
          <a:prstGeom prst="rect">
            <a:avLst/>
          </a:prstGeom>
          <a:noFill/>
          <a:ln/>
        </p:spPr>
        <p:txBody>
          <a:bodyPr wrap="square" lIns="0" tIns="0" rIns="0" bIns="0" rtlCol="0" anchor="ctr"/>
          <a:lstStyle/>
          <a:p>
            <a:pPr algn="ctr" indent="0" marL="0">
              <a:buNone/>
            </a:pPr>
            <a:r>
              <a:rPr lang="en-US" sz="2000" dirty="0">
                <a:solidFill>
                  <a:schemeClr val="tx1"/>
                </a:solidFill>
                <a:latin typeface="Arial" pitchFamily="34" charset="0"/>
                <a:ea typeface="Arial" pitchFamily="34" charset="-122"/>
                <a:cs typeface="Arial" pitchFamily="34" charset="-120"/>
              </a:rPr>
              <a:t>Code scores each story; Jev gives a second opinion</a:t>
            </a:r>
            <a:endParaRPr lang="en-US" sz="2000" dirty="0"/>
          </a:p>
        </p:txBody>
      </p:sp>
      <p:sp>
        <p:nvSpPr>
          <p:cNvPr id="10" name="Shape 8"/>
          <p:cNvSpPr/>
          <p:nvPr/>
        </p:nvSpPr>
        <p:spPr>
          <a:xfrm>
            <a:off x="6016752" y="2560320"/>
            <a:ext cx="274320" cy="457200"/>
          </a:xfrm>
          <a:prstGeom prst="rightArrow">
            <a:avLst/>
          </a:prstGeom>
          <a:solidFill>
            <a:srgbClr val="0039A6"/>
          </a:solidFill>
          <a:ln w="12700">
            <a:solidFill>
              <a:srgbClr val="0039A6"/>
            </a:solidFill>
            <a:prstDash val="solid"/>
          </a:ln>
        </p:spPr>
      </p:sp>
      <p:sp>
        <p:nvSpPr>
          <p:cNvPr id="11" name="Shape 9"/>
          <p:cNvSpPr/>
          <p:nvPr/>
        </p:nvSpPr>
        <p:spPr>
          <a:xfrm>
            <a:off x="6309360" y="1554480"/>
            <a:ext cx="2560320" cy="2468880"/>
          </a:xfrm>
          <a:prstGeom prst="rect">
            <a:avLst/>
          </a:prstGeom>
          <a:solidFill>
            <a:srgbClr val="FFFFFF"/>
          </a:solidFill>
          <a:ln w="38100">
            <a:solidFill>
              <a:srgbClr val="121212"/>
            </a:solidFill>
            <a:prstDash val="solid"/>
          </a:ln>
        </p:spPr>
      </p:sp>
      <p:sp>
        <p:nvSpPr>
          <p:cNvPr id="12" name="Text 10"/>
          <p:cNvSpPr txBox="1"/>
          <p:nvPr/>
        </p:nvSpPr>
        <p:spPr>
          <a:xfrm>
            <a:off x="6492240" y="1783080"/>
            <a:ext cx="219456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3-model jury</a:t>
            </a:r>
            <a:endParaRPr lang="en-US" sz="2800" dirty="0"/>
          </a:p>
        </p:txBody>
      </p:sp>
      <p:sp>
        <p:nvSpPr>
          <p:cNvPr id="13" name="Text 11"/>
          <p:cNvSpPr txBox="1"/>
          <p:nvPr/>
        </p:nvSpPr>
        <p:spPr>
          <a:xfrm>
            <a:off x="6492240" y="2514600"/>
            <a:ext cx="2194560" cy="1371600"/>
          </a:xfrm>
          <a:prstGeom prst="rect">
            <a:avLst/>
          </a:prstGeom>
          <a:noFill/>
          <a:ln/>
        </p:spPr>
        <p:txBody>
          <a:bodyPr wrap="square" lIns="0" tIns="0" rIns="0" bIns="0" rtlCol="0" anchor="ctr"/>
          <a:lstStyle/>
          <a:p>
            <a:pPr algn="ctr" indent="0" marL="0">
              <a:buNone/>
            </a:pPr>
            <a:r>
              <a:rPr lang="en-US" sz="2000" dirty="0">
                <a:solidFill>
                  <a:schemeClr val="tx1"/>
                </a:solidFill>
                <a:latin typeface="Arial" pitchFamily="34" charset="0"/>
                <a:ea typeface="Arial" pitchFamily="34" charset="-122"/>
                <a:cs typeface="Arial" pitchFamily="34" charset="-120"/>
              </a:rPr>
              <a:t>Claude Sonnet, GPT Sol and Gemini Argon label the same stories</a:t>
            </a:r>
            <a:endParaRPr lang="en-US" sz="2000" dirty="0"/>
          </a:p>
        </p:txBody>
      </p:sp>
      <p:sp>
        <p:nvSpPr>
          <p:cNvPr id="14" name="Shape 12"/>
          <p:cNvSpPr/>
          <p:nvPr/>
        </p:nvSpPr>
        <p:spPr>
          <a:xfrm>
            <a:off x="8897112" y="2560320"/>
            <a:ext cx="274320" cy="457200"/>
          </a:xfrm>
          <a:prstGeom prst="rightArrow">
            <a:avLst/>
          </a:prstGeom>
          <a:solidFill>
            <a:srgbClr val="0039A6"/>
          </a:solidFill>
          <a:ln w="12700">
            <a:solidFill>
              <a:srgbClr val="0039A6"/>
            </a:solidFill>
            <a:prstDash val="solid"/>
          </a:ln>
        </p:spPr>
      </p:sp>
      <p:sp>
        <p:nvSpPr>
          <p:cNvPr id="15" name="Shape 13"/>
          <p:cNvSpPr/>
          <p:nvPr/>
        </p:nvSpPr>
        <p:spPr>
          <a:xfrm>
            <a:off x="9189720" y="1554480"/>
            <a:ext cx="2560320" cy="2468880"/>
          </a:xfrm>
          <a:prstGeom prst="rect">
            <a:avLst/>
          </a:prstGeom>
          <a:solidFill>
            <a:srgbClr val="FCCC0A"/>
          </a:solidFill>
          <a:ln w="38100">
            <a:solidFill>
              <a:srgbClr val="121212"/>
            </a:solidFill>
            <a:prstDash val="solid"/>
          </a:ln>
        </p:spPr>
      </p:sp>
      <p:sp>
        <p:nvSpPr>
          <p:cNvPr id="16" name="Text 14"/>
          <p:cNvSpPr txBox="1"/>
          <p:nvPr/>
        </p:nvSpPr>
        <p:spPr>
          <a:xfrm>
            <a:off x="9372600" y="1783080"/>
            <a:ext cx="219456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Fixed</a:t>
            </a:r>
            <a:endParaRPr lang="en-US" sz="2800" dirty="0"/>
          </a:p>
        </p:txBody>
      </p:sp>
      <p:sp>
        <p:nvSpPr>
          <p:cNvPr id="17" name="Text 15"/>
          <p:cNvSpPr txBox="1"/>
          <p:nvPr/>
        </p:nvSpPr>
        <p:spPr>
          <a:xfrm>
            <a:off x="9372600" y="2514600"/>
            <a:ext cx="2194560" cy="1371600"/>
          </a:xfrm>
          <a:prstGeom prst="rect">
            <a:avLst/>
          </a:prstGeom>
          <a:noFill/>
          <a:ln/>
        </p:spPr>
        <p:txBody>
          <a:bodyPr wrap="square" lIns="0" tIns="0" rIns="0" bIns="0" rtlCol="0" anchor="ctr"/>
          <a:lstStyle/>
          <a:p>
            <a:pPr algn="ctr" indent="0" marL="0">
              <a:buNone/>
            </a:pPr>
            <a:r>
              <a:rPr lang="en-US" sz="2000" dirty="0">
                <a:solidFill>
                  <a:schemeClr val="tx1"/>
                </a:solidFill>
                <a:latin typeface="Arial" pitchFamily="34" charset="0"/>
                <a:ea typeface="Arial" pitchFamily="34" charset="-122"/>
                <a:cs typeface="Arial" pitchFamily="34" charset="-120"/>
              </a:rPr>
              <a:t>The blind spots the jury found</a:t>
            </a:r>
            <a:endParaRPr lang="en-US" sz="2000" dirty="0"/>
          </a:p>
        </p:txBody>
      </p:sp>
      <p:sp>
        <p:nvSpPr>
          <p:cNvPr id="18" name="Text 16"/>
          <p:cNvSpPr txBox="1"/>
          <p:nvPr/>
        </p:nvSpPr>
        <p:spPr>
          <a:xfrm>
            <a:off x="548640" y="4343400"/>
            <a:ext cx="54864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Arial" pitchFamily="34" charset="0"/>
                <a:ea typeface="Arial" pitchFamily="34" charset="-122"/>
                <a:cs typeface="Arial" pitchFamily="34" charset="-120"/>
              </a:rPr>
              <a:t>0.37 → 0.53</a:t>
            </a:r>
            <a:endParaRPr lang="en-US" sz="7200" dirty="0"/>
          </a:p>
        </p:txBody>
      </p:sp>
      <p:sp>
        <p:nvSpPr>
          <p:cNvPr id="19" name="Text 17"/>
          <p:cNvSpPr txBox="1"/>
          <p:nvPr/>
        </p:nvSpPr>
        <p:spPr>
          <a:xfrm>
            <a:off x="6309360" y="4526280"/>
            <a:ext cx="5303520" cy="1097280"/>
          </a:xfrm>
          <a:prstGeom prst="rect">
            <a:avLst/>
          </a:prstGeom>
          <a:noFill/>
          <a:ln/>
        </p:spPr>
        <p:txBody>
          <a:bodyPr wrap="square" lIns="0" tIns="0" rIns="0" bIns="0" rtlCol="0" anchor="ctr"/>
          <a:lstStyle/>
          <a:p>
            <a:pPr indent="0" marL="0">
              <a:buNone/>
            </a:pPr>
            <a:r>
              <a:rPr lang="en-US" sz="2600" b="1" dirty="0">
                <a:solidFill>
                  <a:schemeClr val="tx1"/>
                </a:solidFill>
                <a:latin typeface="Arial" pitchFamily="34" charset="0"/>
                <a:ea typeface="Arial" pitchFamily="34" charset="-122"/>
                <a:cs typeface="Arial" pitchFamily="34" charset="-120"/>
              </a:rPr>
              <a:t>ranking quality after the jury's fixes.</a:t>
            </a:r>
            <a:endParaRPr lang="en-US" sz="2600" dirty="0"/>
          </a:p>
        </p:txBody>
      </p:sp>
      <p:sp>
        <p:nvSpPr>
          <p:cNvPr id="20" name="Text 18"/>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Ranking quality: NDCG@10 against the jury's labels (backend/signals/eval/jury.py; docs/how-varity-works.md)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How a project is reviewed</a:t>
            </a:r>
            <a:endParaRPr lang="en-US" sz="4000" dirty="0"/>
          </a:p>
        </p:txBody>
      </p:sp>
      <p:sp>
        <p:nvSpPr>
          <p:cNvPr id="3" name="Shape 1"/>
          <p:cNvSpPr/>
          <p:nvPr/>
        </p:nvSpPr>
        <p:spPr>
          <a:xfrm>
            <a:off x="548640" y="1554480"/>
            <a:ext cx="2560320" cy="2468880"/>
          </a:xfrm>
          <a:prstGeom prst="rect">
            <a:avLst/>
          </a:prstGeom>
          <a:solidFill>
            <a:srgbClr val="FFFFFF"/>
          </a:solidFill>
          <a:ln w="38100">
            <a:solidFill>
              <a:srgbClr val="121212"/>
            </a:solidFill>
            <a:prstDash val="solid"/>
          </a:ln>
        </p:spPr>
      </p:sp>
      <p:sp>
        <p:nvSpPr>
          <p:cNvPr id="4" name="Text 2"/>
          <p:cNvSpPr txBox="1"/>
          <p:nvPr/>
        </p:nvSpPr>
        <p:spPr>
          <a:xfrm>
            <a:off x="731520" y="1783080"/>
            <a:ext cx="219456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Code checks</a:t>
            </a:r>
            <a:endParaRPr lang="en-US" sz="2800" dirty="0"/>
          </a:p>
        </p:txBody>
      </p:sp>
      <p:sp>
        <p:nvSpPr>
          <p:cNvPr id="5" name="Text 3"/>
          <p:cNvSpPr txBox="1"/>
          <p:nvPr/>
        </p:nvSpPr>
        <p:spPr>
          <a:xfrm>
            <a:off x="731520" y="2560320"/>
            <a:ext cx="2194560" cy="1280160"/>
          </a:xfrm>
          <a:prstGeom prst="rect">
            <a:avLst/>
          </a:prstGeom>
          <a:noFill/>
          <a:ln/>
        </p:spPr>
        <p:txBody>
          <a:bodyPr wrap="square" lIns="0" tIns="0" rIns="0" bIns="0" rtlCol="0" anchor="ctr"/>
          <a:lstStyle/>
          <a:p>
            <a:pPr algn="ctr" indent="0" marL="0">
              <a:buNone/>
            </a:pPr>
            <a:r>
              <a:rPr lang="en-US" sz="2200" dirty="0">
                <a:solidFill>
                  <a:schemeClr val="tx1"/>
                </a:solidFill>
                <a:latin typeface="Arial" pitchFamily="34" charset="0"/>
                <a:ea typeface="Arial" pitchFamily="34" charset="-122"/>
                <a:cs typeface="Arial" pitchFamily="34" charset="-120"/>
              </a:rPr>
              <a:t>Real repo, tests pass, demo live</a:t>
            </a:r>
            <a:endParaRPr lang="en-US" sz="2200" dirty="0"/>
          </a:p>
        </p:txBody>
      </p:sp>
      <p:sp>
        <p:nvSpPr>
          <p:cNvPr id="6" name="Shape 4"/>
          <p:cNvSpPr/>
          <p:nvPr/>
        </p:nvSpPr>
        <p:spPr>
          <a:xfrm>
            <a:off x="3136392" y="2560320"/>
            <a:ext cx="274320" cy="457200"/>
          </a:xfrm>
          <a:prstGeom prst="rightArrow">
            <a:avLst/>
          </a:prstGeom>
          <a:solidFill>
            <a:srgbClr val="0039A6"/>
          </a:solidFill>
          <a:ln w="12700">
            <a:solidFill>
              <a:srgbClr val="0039A6"/>
            </a:solidFill>
            <a:prstDash val="solid"/>
          </a:ln>
        </p:spPr>
      </p:sp>
      <p:sp>
        <p:nvSpPr>
          <p:cNvPr id="7" name="Shape 5"/>
          <p:cNvSpPr/>
          <p:nvPr/>
        </p:nvSpPr>
        <p:spPr>
          <a:xfrm>
            <a:off x="3429000" y="1554480"/>
            <a:ext cx="2560320" cy="2468880"/>
          </a:xfrm>
          <a:prstGeom prst="rect">
            <a:avLst/>
          </a:prstGeom>
          <a:solidFill>
            <a:srgbClr val="FFFFFF"/>
          </a:solidFill>
          <a:ln w="38100">
            <a:solidFill>
              <a:srgbClr val="121212"/>
            </a:solidFill>
            <a:prstDash val="solid"/>
          </a:ln>
        </p:spPr>
      </p:sp>
      <p:sp>
        <p:nvSpPr>
          <p:cNvPr id="8" name="Text 6"/>
          <p:cNvSpPr txBox="1"/>
          <p:nvPr/>
        </p:nvSpPr>
        <p:spPr>
          <a:xfrm>
            <a:off x="3611880" y="1783080"/>
            <a:ext cx="219456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3 AI jurors</a:t>
            </a:r>
            <a:endParaRPr lang="en-US" sz="2800" dirty="0"/>
          </a:p>
        </p:txBody>
      </p:sp>
      <p:sp>
        <p:nvSpPr>
          <p:cNvPr id="9" name="Text 7"/>
          <p:cNvSpPr txBox="1"/>
          <p:nvPr/>
        </p:nvSpPr>
        <p:spPr>
          <a:xfrm>
            <a:off x="3611880" y="2560320"/>
            <a:ext cx="2194560" cy="1280160"/>
          </a:xfrm>
          <a:prstGeom prst="rect">
            <a:avLst/>
          </a:prstGeom>
          <a:noFill/>
          <a:ln/>
        </p:spPr>
        <p:txBody>
          <a:bodyPr wrap="square" lIns="0" tIns="0" rIns="0" bIns="0" rtlCol="0" anchor="ctr"/>
          <a:lstStyle/>
          <a:p>
            <a:pPr algn="ctr" indent="0" marL="0">
              <a:buNone/>
            </a:pPr>
            <a:r>
              <a:rPr lang="en-US" sz="2200" dirty="0">
                <a:solidFill>
                  <a:schemeClr val="tx1"/>
                </a:solidFill>
                <a:latin typeface="Arial" pitchFamily="34" charset="0"/>
                <a:ea typeface="Arial" pitchFamily="34" charset="-122"/>
                <a:cs typeface="Arial" pitchFamily="34" charset="-120"/>
              </a:rPr>
              <a:t>Claude, GPT and DeepSeek vote</a:t>
            </a:r>
            <a:endParaRPr lang="en-US" sz="2200" dirty="0"/>
          </a:p>
        </p:txBody>
      </p:sp>
      <p:sp>
        <p:nvSpPr>
          <p:cNvPr id="10" name="Shape 8"/>
          <p:cNvSpPr/>
          <p:nvPr/>
        </p:nvSpPr>
        <p:spPr>
          <a:xfrm>
            <a:off x="6016752" y="2560320"/>
            <a:ext cx="274320" cy="457200"/>
          </a:xfrm>
          <a:prstGeom prst="rightArrow">
            <a:avLst/>
          </a:prstGeom>
          <a:solidFill>
            <a:srgbClr val="0039A6"/>
          </a:solidFill>
          <a:ln w="12700">
            <a:solidFill>
              <a:srgbClr val="0039A6"/>
            </a:solidFill>
            <a:prstDash val="solid"/>
          </a:ln>
        </p:spPr>
      </p:sp>
      <p:sp>
        <p:nvSpPr>
          <p:cNvPr id="11" name="Shape 9"/>
          <p:cNvSpPr/>
          <p:nvPr/>
        </p:nvSpPr>
        <p:spPr>
          <a:xfrm>
            <a:off x="6309360" y="1554480"/>
            <a:ext cx="2560320" cy="2468880"/>
          </a:xfrm>
          <a:prstGeom prst="rect">
            <a:avLst/>
          </a:prstGeom>
          <a:solidFill>
            <a:srgbClr val="FFFFFF"/>
          </a:solidFill>
          <a:ln w="38100">
            <a:solidFill>
              <a:srgbClr val="121212"/>
            </a:solidFill>
            <a:prstDash val="solid"/>
          </a:ln>
        </p:spPr>
      </p:sp>
      <p:sp>
        <p:nvSpPr>
          <p:cNvPr id="12" name="Text 10"/>
          <p:cNvSpPr txBox="1"/>
          <p:nvPr/>
        </p:nvSpPr>
        <p:spPr>
          <a:xfrm>
            <a:off x="6492240" y="1783080"/>
            <a:ext cx="219456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Cite check</a:t>
            </a:r>
            <a:endParaRPr lang="en-US" sz="2800" dirty="0"/>
          </a:p>
        </p:txBody>
      </p:sp>
      <p:sp>
        <p:nvSpPr>
          <p:cNvPr id="13" name="Text 11"/>
          <p:cNvSpPr txBox="1"/>
          <p:nvPr/>
        </p:nvSpPr>
        <p:spPr>
          <a:xfrm>
            <a:off x="6492240" y="2560320"/>
            <a:ext cx="2194560" cy="1280160"/>
          </a:xfrm>
          <a:prstGeom prst="rect">
            <a:avLst/>
          </a:prstGeom>
          <a:noFill/>
          <a:ln/>
        </p:spPr>
        <p:txBody>
          <a:bodyPr wrap="square" lIns="0" tIns="0" rIns="0" bIns="0" rtlCol="0" anchor="ctr"/>
          <a:lstStyle/>
          <a:p>
            <a:pPr algn="ctr" indent="0" marL="0">
              <a:buNone/>
            </a:pPr>
            <a:r>
              <a:rPr lang="en-US" sz="2200" dirty="0">
                <a:solidFill>
                  <a:schemeClr val="tx1"/>
                </a:solidFill>
                <a:latin typeface="Arial" pitchFamily="34" charset="0"/>
                <a:ea typeface="Arial" pitchFamily="34" charset="-122"/>
                <a:cs typeface="Arial" pitchFamily="34" charset="-120"/>
              </a:rPr>
              <a:t>Each vote must quote real code</a:t>
            </a:r>
            <a:endParaRPr lang="en-US" sz="2200" dirty="0"/>
          </a:p>
        </p:txBody>
      </p:sp>
      <p:sp>
        <p:nvSpPr>
          <p:cNvPr id="14" name="Shape 12"/>
          <p:cNvSpPr/>
          <p:nvPr/>
        </p:nvSpPr>
        <p:spPr>
          <a:xfrm>
            <a:off x="8897112" y="2560320"/>
            <a:ext cx="274320" cy="457200"/>
          </a:xfrm>
          <a:prstGeom prst="rightArrow">
            <a:avLst/>
          </a:prstGeom>
          <a:solidFill>
            <a:srgbClr val="0039A6"/>
          </a:solidFill>
          <a:ln w="12700">
            <a:solidFill>
              <a:srgbClr val="0039A6"/>
            </a:solidFill>
            <a:prstDash val="solid"/>
          </a:ln>
        </p:spPr>
      </p:sp>
      <p:sp>
        <p:nvSpPr>
          <p:cNvPr id="15" name="Shape 13"/>
          <p:cNvSpPr/>
          <p:nvPr/>
        </p:nvSpPr>
        <p:spPr>
          <a:xfrm>
            <a:off x="9189720" y="1554480"/>
            <a:ext cx="2560320" cy="2468880"/>
          </a:xfrm>
          <a:prstGeom prst="rect">
            <a:avLst/>
          </a:prstGeom>
          <a:solidFill>
            <a:srgbClr val="FCCC0A"/>
          </a:solidFill>
          <a:ln w="38100">
            <a:solidFill>
              <a:srgbClr val="121212"/>
            </a:solidFill>
            <a:prstDash val="solid"/>
          </a:ln>
        </p:spPr>
      </p:sp>
      <p:sp>
        <p:nvSpPr>
          <p:cNvPr id="16" name="Text 14"/>
          <p:cNvSpPr txBox="1"/>
          <p:nvPr/>
        </p:nvSpPr>
        <p:spPr>
          <a:xfrm>
            <a:off x="9372600" y="1783080"/>
            <a:ext cx="2194560" cy="64008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Verdict</a:t>
            </a:r>
            <a:endParaRPr lang="en-US" sz="2800" dirty="0"/>
          </a:p>
        </p:txBody>
      </p:sp>
      <p:sp>
        <p:nvSpPr>
          <p:cNvPr id="17" name="Text 15"/>
          <p:cNvSpPr txBox="1"/>
          <p:nvPr/>
        </p:nvSpPr>
        <p:spPr>
          <a:xfrm>
            <a:off x="9372600" y="2560320"/>
            <a:ext cx="2194560" cy="1280160"/>
          </a:xfrm>
          <a:prstGeom prst="rect">
            <a:avLst/>
          </a:prstGeom>
          <a:noFill/>
          <a:ln/>
        </p:spPr>
        <p:txBody>
          <a:bodyPr wrap="square" lIns="0" tIns="0" rIns="0" bIns="0" rtlCol="0" anchor="ctr"/>
          <a:lstStyle/>
          <a:p>
            <a:pPr algn="ctr" indent="0" marL="0">
              <a:buNone/>
            </a:pPr>
            <a:r>
              <a:rPr lang="en-US" sz="2200" dirty="0">
                <a:solidFill>
                  <a:schemeClr val="tx1"/>
                </a:solidFill>
                <a:latin typeface="Arial" pitchFamily="34" charset="0"/>
                <a:ea typeface="Arial" pitchFamily="34" charset="-122"/>
                <a:cs typeface="Arial" pitchFamily="34" charset="-120"/>
              </a:rPr>
              <a:t>2 of 3 agree: Applied</a:t>
            </a:r>
            <a:endParaRPr lang="en-US" sz="2200" dirty="0"/>
          </a:p>
        </p:txBody>
      </p:sp>
      <p:sp>
        <p:nvSpPr>
          <p:cNvPr id="18" name="Text 16"/>
          <p:cNvSpPr txBox="1"/>
          <p:nvPr/>
        </p:nvSpPr>
        <p:spPr>
          <a:xfrm>
            <a:off x="548640" y="4480560"/>
            <a:ext cx="11064240" cy="68580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No single AI can pass you.</a:t>
            </a:r>
            <a:endParaRPr lang="en-US" sz="3600" dirty="0"/>
          </a:p>
        </p:txBody>
      </p:sp>
      <p:sp>
        <p:nvSpPr>
          <p:cNvPr id="19" name="Text 17"/>
          <p:cNvSpPr txBox="1"/>
          <p:nvPr/>
        </p:nvSpPr>
        <p:spPr>
          <a:xfrm>
            <a:off x="548640" y="5166360"/>
            <a:ext cx="11064240" cy="68580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And none can invent evidence.</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How we make money</a:t>
            </a:r>
            <a:endParaRPr lang="en-US" sz="4000" dirty="0"/>
          </a:p>
        </p:txBody>
      </p:sp>
      <p:sp>
        <p:nvSpPr>
          <p:cNvPr id="3" name="Shape 1"/>
          <p:cNvSpPr/>
          <p:nvPr/>
        </p:nvSpPr>
        <p:spPr>
          <a:xfrm>
            <a:off x="548640" y="1554480"/>
            <a:ext cx="3474720" cy="4023360"/>
          </a:xfrm>
          <a:prstGeom prst="rect">
            <a:avLst/>
          </a:prstGeom>
          <a:solidFill>
            <a:srgbClr val="FFFFFF"/>
          </a:solidFill>
          <a:ln w="25400">
            <a:solidFill>
              <a:srgbClr val="121212"/>
            </a:solidFill>
            <a:prstDash val="solid"/>
          </a:ln>
        </p:spPr>
      </p:sp>
      <p:sp>
        <p:nvSpPr>
          <p:cNvPr id="4" name="Shape 2"/>
          <p:cNvSpPr/>
          <p:nvPr/>
        </p:nvSpPr>
        <p:spPr>
          <a:xfrm>
            <a:off x="822960" y="1783080"/>
            <a:ext cx="1005840" cy="457200"/>
          </a:xfrm>
          <a:prstGeom prst="roundRect">
            <a:avLst>
              <a:gd name="adj" fmla="val 50000"/>
            </a:avLst>
          </a:prstGeom>
          <a:solidFill>
            <a:srgbClr val="121212"/>
          </a:solidFill>
          <a:ln w="12700">
            <a:solidFill>
              <a:srgbClr val="121212"/>
            </a:solidFill>
            <a:prstDash val="solid"/>
          </a:ln>
        </p:spPr>
      </p:sp>
      <p:sp>
        <p:nvSpPr>
          <p:cNvPr id="5" name="Text 3"/>
          <p:cNvSpPr txBox="1"/>
          <p:nvPr/>
        </p:nvSpPr>
        <p:spPr>
          <a:xfrm>
            <a:off x="822960" y="1783080"/>
            <a:ext cx="100584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B2C</a:t>
            </a:r>
            <a:endParaRPr lang="en-US" sz="1800" dirty="0"/>
          </a:p>
        </p:txBody>
      </p:sp>
      <p:sp>
        <p:nvSpPr>
          <p:cNvPr id="6" name="Text 4"/>
          <p:cNvSpPr txBox="1"/>
          <p:nvPr/>
        </p:nvSpPr>
        <p:spPr>
          <a:xfrm>
            <a:off x="822960" y="2468880"/>
            <a:ext cx="2926080" cy="64008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Students</a:t>
            </a:r>
            <a:endParaRPr lang="en-US" sz="3000" dirty="0"/>
          </a:p>
        </p:txBody>
      </p:sp>
      <p:sp>
        <p:nvSpPr>
          <p:cNvPr id="7" name="Text 5"/>
          <p:cNvSpPr txBox="1"/>
          <p:nvPr/>
        </p:nvSpPr>
        <p:spPr>
          <a:xfrm>
            <a:off x="822960" y="3200400"/>
            <a:ext cx="2926080" cy="109728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RM32</a:t>
            </a:r>
            <a:endParaRPr lang="en-US" sz="6000" dirty="0"/>
          </a:p>
        </p:txBody>
      </p:sp>
      <p:sp>
        <p:nvSpPr>
          <p:cNvPr id="8" name="Text 6"/>
          <p:cNvSpPr txBox="1"/>
          <p:nvPr/>
        </p:nvSpPr>
        <p:spPr>
          <a:xfrm>
            <a:off x="822960" y="4206240"/>
            <a:ext cx="2926080" cy="822960"/>
          </a:xfrm>
          <a:prstGeom prst="rect">
            <a:avLst/>
          </a:prstGeom>
          <a:noFill/>
          <a:ln/>
        </p:spPr>
        <p:txBody>
          <a:bodyPr wrap="square" lIns="0" tIns="0" rIns="0" bIns="0" rtlCol="0" anchor="ctr"/>
          <a:lstStyle/>
          <a:p>
            <a:pPr indent="0" marL="0">
              <a:buNone/>
            </a:pPr>
            <a:r>
              <a:rPr lang="en-US" sz="2400" dirty="0">
                <a:solidFill>
                  <a:schemeClr val="tx1"/>
                </a:solidFill>
                <a:latin typeface="Arial" pitchFamily="34" charset="0"/>
                <a:ea typeface="Arial" pitchFamily="34" charset="-122"/>
                <a:cs typeface="Arial" pitchFamily="34" charset="-120"/>
              </a:rPr>
              <a:t>a month (US$8)</a:t>
            </a:r>
            <a:endParaRPr lang="en-US" sz="2400" dirty="0"/>
          </a:p>
        </p:txBody>
      </p:sp>
      <p:sp>
        <p:nvSpPr>
          <p:cNvPr id="9" name="Text 7"/>
          <p:cNvSpPr txBox="1"/>
          <p:nvPr/>
        </p:nvSpPr>
        <p:spPr>
          <a:xfrm>
            <a:off x="822960" y="4754880"/>
            <a:ext cx="2926080" cy="457200"/>
          </a:xfrm>
          <a:prstGeom prst="rect">
            <a:avLst/>
          </a:prstGeom>
          <a:noFill/>
          <a:ln/>
        </p:spPr>
        <p:txBody>
          <a:bodyPr wrap="square" lIns="0" tIns="0" rIns="0" bIns="0" rtlCol="0" anchor="ctr"/>
          <a:lstStyle/>
          <a:p>
            <a:pPr indent="0" marL="0">
              <a:buNone/>
            </a:pPr>
            <a:r>
              <a:rPr lang="en-US" sz="2000" b="1" dirty="0">
                <a:solidFill>
                  <a:schemeClr val="accent2"/>
                </a:solidFill>
                <a:latin typeface="Arial" pitchFamily="34" charset="0"/>
                <a:ea typeface="Arial" pitchFamily="34" charset="-122"/>
                <a:cs typeface="Arial" pitchFamily="34" charset="-120"/>
              </a:rPr>
              <a:t>Covers our AI costs</a:t>
            </a:r>
            <a:endParaRPr lang="en-US" sz="2000" dirty="0"/>
          </a:p>
        </p:txBody>
      </p:sp>
      <p:sp>
        <p:nvSpPr>
          <p:cNvPr id="10" name="Shape 8"/>
          <p:cNvSpPr/>
          <p:nvPr/>
        </p:nvSpPr>
        <p:spPr>
          <a:xfrm>
            <a:off x="4297680" y="1554480"/>
            <a:ext cx="3474720" cy="4023360"/>
          </a:xfrm>
          <a:prstGeom prst="rect">
            <a:avLst/>
          </a:prstGeom>
          <a:solidFill>
            <a:srgbClr val="F2F3F1"/>
          </a:solidFill>
          <a:ln w="25400">
            <a:solidFill>
              <a:srgbClr val="121212"/>
            </a:solidFill>
            <a:prstDash val="solid"/>
          </a:ln>
        </p:spPr>
      </p:sp>
      <p:sp>
        <p:nvSpPr>
          <p:cNvPr id="11" name="Shape 9"/>
          <p:cNvSpPr/>
          <p:nvPr/>
        </p:nvSpPr>
        <p:spPr>
          <a:xfrm>
            <a:off x="4572000" y="1783080"/>
            <a:ext cx="1005840" cy="457200"/>
          </a:xfrm>
          <a:prstGeom prst="roundRect">
            <a:avLst>
              <a:gd name="adj" fmla="val 50000"/>
            </a:avLst>
          </a:prstGeom>
          <a:solidFill>
            <a:srgbClr val="121212"/>
          </a:solidFill>
          <a:ln w="12700">
            <a:solidFill>
              <a:srgbClr val="121212"/>
            </a:solidFill>
            <a:prstDash val="solid"/>
          </a:ln>
        </p:spPr>
      </p:sp>
      <p:sp>
        <p:nvSpPr>
          <p:cNvPr id="12" name="Text 10"/>
          <p:cNvSpPr txBox="1"/>
          <p:nvPr/>
        </p:nvSpPr>
        <p:spPr>
          <a:xfrm>
            <a:off x="4572000" y="1783080"/>
            <a:ext cx="100584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B2B</a:t>
            </a:r>
            <a:endParaRPr lang="en-US" sz="1800" dirty="0"/>
          </a:p>
        </p:txBody>
      </p:sp>
      <p:sp>
        <p:nvSpPr>
          <p:cNvPr id="13" name="Text 11"/>
          <p:cNvSpPr txBox="1"/>
          <p:nvPr/>
        </p:nvSpPr>
        <p:spPr>
          <a:xfrm>
            <a:off x="4572000" y="2468880"/>
            <a:ext cx="2926080" cy="64008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Universities</a:t>
            </a:r>
            <a:endParaRPr lang="en-US" sz="3000" dirty="0"/>
          </a:p>
        </p:txBody>
      </p:sp>
      <p:sp>
        <p:nvSpPr>
          <p:cNvPr id="14" name="Text 12"/>
          <p:cNvSpPr txBox="1"/>
          <p:nvPr/>
        </p:nvSpPr>
        <p:spPr>
          <a:xfrm>
            <a:off x="4572000" y="3200400"/>
            <a:ext cx="2926080" cy="109728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Licence</a:t>
            </a:r>
            <a:endParaRPr lang="en-US" sz="6000" dirty="0"/>
          </a:p>
        </p:txBody>
      </p:sp>
      <p:sp>
        <p:nvSpPr>
          <p:cNvPr id="15" name="Text 13"/>
          <p:cNvSpPr txBox="1"/>
          <p:nvPr/>
        </p:nvSpPr>
        <p:spPr>
          <a:xfrm>
            <a:off x="4572000" y="4206240"/>
            <a:ext cx="2926080" cy="822960"/>
          </a:xfrm>
          <a:prstGeom prst="rect">
            <a:avLst/>
          </a:prstGeom>
          <a:noFill/>
          <a:ln/>
        </p:spPr>
        <p:txBody>
          <a:bodyPr wrap="square" lIns="0" tIns="0" rIns="0" bIns="0" rtlCol="0" anchor="ctr"/>
          <a:lstStyle/>
          <a:p>
            <a:pPr indent="0" marL="0">
              <a:buNone/>
            </a:pPr>
            <a:r>
              <a:rPr lang="en-US" sz="2400" dirty="0">
                <a:solidFill>
                  <a:schemeClr val="tx1"/>
                </a:solidFill>
                <a:latin typeface="Arial" pitchFamily="34" charset="0"/>
                <a:ea typeface="Arial" pitchFamily="34" charset="-122"/>
                <a:cs typeface="Arial" pitchFamily="34" charset="-120"/>
              </a:rPr>
              <a:t>a year, per class</a:t>
            </a:r>
            <a:endParaRPr lang="en-US" sz="2400" dirty="0"/>
          </a:p>
        </p:txBody>
      </p:sp>
      <p:sp>
        <p:nvSpPr>
          <p:cNvPr id="16" name="Shape 14"/>
          <p:cNvSpPr/>
          <p:nvPr/>
        </p:nvSpPr>
        <p:spPr>
          <a:xfrm>
            <a:off x="8046720" y="1554480"/>
            <a:ext cx="3474720" cy="4023360"/>
          </a:xfrm>
          <a:prstGeom prst="rect">
            <a:avLst/>
          </a:prstGeom>
          <a:solidFill>
            <a:srgbClr val="121212"/>
          </a:solidFill>
          <a:ln w="25400">
            <a:solidFill>
              <a:srgbClr val="121212"/>
            </a:solidFill>
            <a:prstDash val="solid"/>
          </a:ln>
        </p:spPr>
      </p:sp>
      <p:sp>
        <p:nvSpPr>
          <p:cNvPr id="17" name="Shape 15"/>
          <p:cNvSpPr/>
          <p:nvPr/>
        </p:nvSpPr>
        <p:spPr>
          <a:xfrm>
            <a:off x="8321040" y="1783080"/>
            <a:ext cx="1005840" cy="457200"/>
          </a:xfrm>
          <a:prstGeom prst="roundRect">
            <a:avLst>
              <a:gd name="adj" fmla="val 50000"/>
            </a:avLst>
          </a:prstGeom>
          <a:solidFill>
            <a:srgbClr val="FFFFFF"/>
          </a:solidFill>
          <a:ln w="12700">
            <a:solidFill>
              <a:srgbClr val="FFFFFF"/>
            </a:solidFill>
            <a:prstDash val="solid"/>
          </a:ln>
        </p:spPr>
      </p:sp>
      <p:sp>
        <p:nvSpPr>
          <p:cNvPr id="18" name="Text 16"/>
          <p:cNvSpPr txBox="1"/>
          <p:nvPr/>
        </p:nvSpPr>
        <p:spPr>
          <a:xfrm>
            <a:off x="8321040" y="1783080"/>
            <a:ext cx="100584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B2B</a:t>
            </a:r>
            <a:endParaRPr lang="en-US" sz="1800" dirty="0"/>
          </a:p>
        </p:txBody>
      </p:sp>
      <p:sp>
        <p:nvSpPr>
          <p:cNvPr id="19" name="Text 17"/>
          <p:cNvSpPr txBox="1"/>
          <p:nvPr/>
        </p:nvSpPr>
        <p:spPr>
          <a:xfrm>
            <a:off x="8321040" y="2468880"/>
            <a:ext cx="2926080" cy="640080"/>
          </a:xfrm>
          <a:prstGeom prst="rect">
            <a:avLst/>
          </a:prstGeom>
          <a:noFill/>
          <a:ln/>
        </p:spPr>
        <p:txBody>
          <a:bodyPr wrap="square" lIns="0" tIns="0" rIns="0" bIns="0" rtlCol="0" anchor="ctr"/>
          <a:lstStyle/>
          <a:p>
            <a:pPr indent="0" marL="0">
              <a:buNone/>
            </a:pPr>
            <a:r>
              <a:rPr lang="en-US" sz="3000" b="1" dirty="0">
                <a:solidFill>
                  <a:schemeClr val="bg1"/>
                </a:solidFill>
                <a:latin typeface="Arial" pitchFamily="34" charset="0"/>
                <a:ea typeface="Arial" pitchFamily="34" charset="-122"/>
                <a:cs typeface="Arial" pitchFamily="34" charset="-120"/>
              </a:rPr>
              <a:t>Employers</a:t>
            </a:r>
            <a:endParaRPr lang="en-US" sz="3000" dirty="0"/>
          </a:p>
        </p:txBody>
      </p:sp>
      <p:sp>
        <p:nvSpPr>
          <p:cNvPr id="20" name="Text 18"/>
          <p:cNvSpPr txBox="1"/>
          <p:nvPr/>
        </p:nvSpPr>
        <p:spPr>
          <a:xfrm>
            <a:off x="8321040" y="3200400"/>
            <a:ext cx="2926080" cy="1097280"/>
          </a:xfrm>
          <a:prstGeom prst="rect">
            <a:avLst/>
          </a:prstGeom>
          <a:noFill/>
          <a:ln/>
        </p:spPr>
        <p:txBody>
          <a:bodyPr wrap="square" lIns="0" tIns="0" rIns="0" bIns="0" rtlCol="0" anchor="ctr"/>
          <a:lstStyle/>
          <a:p>
            <a:pPr indent="0" marL="0">
              <a:buNone/>
            </a:pPr>
            <a:r>
              <a:rPr lang="en-US" sz="6000" b="1" dirty="0">
                <a:solidFill>
                  <a:schemeClr val="bg1"/>
                </a:solidFill>
                <a:latin typeface="Arial" pitchFamily="34" charset="0"/>
                <a:ea typeface="Arial" pitchFamily="34" charset="-122"/>
                <a:cs typeface="Arial" pitchFamily="34" charset="-120"/>
              </a:rPr>
              <a:t>Fee</a:t>
            </a:r>
            <a:endParaRPr lang="en-US" sz="6000" dirty="0"/>
          </a:p>
        </p:txBody>
      </p:sp>
      <p:sp>
        <p:nvSpPr>
          <p:cNvPr id="21" name="Text 19"/>
          <p:cNvSpPr txBox="1"/>
          <p:nvPr/>
        </p:nvSpPr>
        <p:spPr>
          <a:xfrm>
            <a:off x="8321040" y="4206240"/>
            <a:ext cx="2926080" cy="822960"/>
          </a:xfrm>
          <a:prstGeom prst="rect">
            <a:avLst/>
          </a:prstGeom>
          <a:noFill/>
          <a:ln/>
        </p:spPr>
        <p:txBody>
          <a:bodyPr wrap="square" lIns="0" tIns="0" rIns="0" bIns="0" rtlCol="0" anchor="ctr"/>
          <a:lstStyle/>
          <a:p>
            <a:pPr indent="0" marL="0">
              <a:buNone/>
            </a:pPr>
            <a:r>
              <a:rPr lang="en-US" sz="2400" dirty="0">
                <a:solidFill>
                  <a:schemeClr val="bg1"/>
                </a:solidFill>
                <a:latin typeface="Arial" pitchFamily="34" charset="0"/>
                <a:ea typeface="Arial" pitchFamily="34" charset="-122"/>
                <a:cs typeface="Arial" pitchFamily="34" charset="-120"/>
              </a:rPr>
              <a:t>per hire of a proven graduate</a:t>
            </a:r>
            <a:endParaRPr lang="en-US" sz="2400" dirty="0"/>
          </a:p>
        </p:txBody>
      </p:sp>
      <p:sp>
        <p:nvSpPr>
          <p:cNvPr id="22" name="Text 20"/>
          <p:cNvSpPr txBox="1"/>
          <p:nvPr/>
        </p:nvSpPr>
        <p:spPr>
          <a:xfrm>
            <a:off x="548640" y="5760720"/>
            <a:ext cx="11064240" cy="54864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Universities and employers also get the Applied label: proof they can trust.</a:t>
            </a:r>
            <a:endParaRPr lang="en-US" sz="2400" dirty="0"/>
          </a:p>
        </p:txBody>
      </p:sp>
      <p:sp>
        <p:nvSpPr>
          <p:cNvPr id="23" name="Text 21"/>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RM32 at RM4.06 per US$1 (XE mid-market rate, 30 Oct 2026)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4000" b="1" dirty="0">
                <a:solidFill>
                  <a:schemeClr val="tx1"/>
                </a:solidFill>
              </a:rPr>
              <a:t>How we grow</a:t>
            </a:r>
            <a:endParaRPr lang="en-US" sz="4000" dirty="0"/>
          </a:p>
        </p:txBody>
      </p:sp>
      <p:sp>
        <p:nvSpPr>
          <p:cNvPr id="3" name="Shape 1"/>
          <p:cNvSpPr/>
          <p:nvPr/>
        </p:nvSpPr>
        <p:spPr>
          <a:xfrm>
            <a:off x="1920240" y="2377440"/>
            <a:ext cx="8321040" cy="0"/>
          </a:xfrm>
          <a:prstGeom prst="line">
            <a:avLst/>
          </a:prstGeom>
          <a:noFill/>
          <a:ln w="114300">
            <a:solidFill>
              <a:srgbClr val="0039A6"/>
            </a:solidFill>
            <a:prstDash val="solid"/>
          </a:ln>
        </p:spPr>
      </p:sp>
      <p:sp>
        <p:nvSpPr>
          <p:cNvPr id="4" name="Shape 2"/>
          <p:cNvSpPr/>
          <p:nvPr/>
        </p:nvSpPr>
        <p:spPr>
          <a:xfrm>
            <a:off x="1463040" y="1920240"/>
            <a:ext cx="914400" cy="914400"/>
          </a:xfrm>
          <a:prstGeom prst="roundRect">
            <a:avLst>
              <a:gd name="adj" fmla="val 50000"/>
            </a:avLst>
          </a:prstGeom>
          <a:solidFill>
            <a:srgbClr val="FCCC0A"/>
          </a:solidFill>
          <a:ln w="12700">
            <a:solidFill>
              <a:srgbClr val="FCCC0A"/>
            </a:solidFill>
            <a:prstDash val="solid"/>
          </a:ln>
        </p:spPr>
      </p:sp>
      <p:sp>
        <p:nvSpPr>
          <p:cNvPr id="5" name="Shape 3"/>
          <p:cNvSpPr/>
          <p:nvPr/>
        </p:nvSpPr>
        <p:spPr>
          <a:xfrm>
            <a:off x="1645920" y="2103120"/>
            <a:ext cx="548640" cy="548640"/>
          </a:xfrm>
          <a:prstGeom prst="ellipse">
            <a:avLst/>
          </a:prstGeom>
          <a:solidFill>
            <a:srgbClr val="121212"/>
          </a:solidFill>
          <a:ln w="38100">
            <a:solidFill>
              <a:srgbClr val="121212"/>
            </a:solidFill>
            <a:prstDash val="solid"/>
          </a:ln>
        </p:spPr>
      </p:sp>
      <p:sp>
        <p:nvSpPr>
          <p:cNvPr id="6" name="Text 4"/>
          <p:cNvSpPr txBox="1"/>
          <p:nvPr/>
        </p:nvSpPr>
        <p:spPr>
          <a:xfrm>
            <a:off x="548640" y="3200400"/>
            <a:ext cx="2743200" cy="640080"/>
          </a:xfrm>
          <a:prstGeom prst="rect">
            <a:avLst/>
          </a:prstGeom>
          <a:noFill/>
          <a:ln/>
        </p:spPr>
        <p:txBody>
          <a:bodyPr wrap="square" lIns="0" tIns="0" rIns="0" bIns="0" rtlCol="0" anchor="ctr"/>
          <a:lstStyle/>
          <a:p>
            <a:pPr algn="ctr" indent="0" marL="0">
              <a:buNone/>
            </a:pPr>
            <a:r>
              <a:rPr lang="en-US" sz="3400" b="1" dirty="0">
                <a:solidFill>
                  <a:schemeClr val="tx1"/>
                </a:solidFill>
                <a:latin typeface="Arial" pitchFamily="34" charset="0"/>
                <a:ea typeface="Arial" pitchFamily="34" charset="-122"/>
                <a:cs typeface="Arial" pitchFamily="34" charset="-120"/>
              </a:rPr>
              <a:t>Now</a:t>
            </a:r>
            <a:endParaRPr lang="en-US" sz="3400" dirty="0"/>
          </a:p>
        </p:txBody>
      </p:sp>
      <p:sp>
        <p:nvSpPr>
          <p:cNvPr id="7" name="Text 5"/>
          <p:cNvSpPr txBox="1"/>
          <p:nvPr/>
        </p:nvSpPr>
        <p:spPr>
          <a:xfrm>
            <a:off x="594360" y="3886200"/>
            <a:ext cx="2651760" cy="1097280"/>
          </a:xfrm>
          <a:prstGeom prst="rect">
            <a:avLst/>
          </a:prstGeom>
          <a:noFill/>
          <a:ln/>
        </p:spPr>
        <p:txBody>
          <a:bodyPr wrap="square" lIns="0" tIns="0" rIns="0" bIns="0" rtlCol="0" anchor="ctr"/>
          <a:lstStyle/>
          <a:p>
            <a:pPr algn="ctr" indent="0" marL="0">
              <a:buNone/>
            </a:pPr>
            <a:r>
              <a:rPr lang="en-US" sz="2600" dirty="0">
                <a:solidFill>
                  <a:schemeClr val="tx1"/>
                </a:solidFill>
                <a:latin typeface="Arial" pitchFamily="34" charset="0"/>
                <a:ea typeface="Arial" pitchFamily="34" charset="-122"/>
                <a:cs typeface="Arial" pitchFamily="34" charset="-120"/>
              </a:rPr>
              <a:t>Tech roles in Malaysia</a:t>
            </a:r>
            <a:endParaRPr lang="en-US" sz="2600" dirty="0"/>
          </a:p>
        </p:txBody>
      </p:sp>
      <p:sp>
        <p:nvSpPr>
          <p:cNvPr id="8" name="Shape 6"/>
          <p:cNvSpPr/>
          <p:nvPr/>
        </p:nvSpPr>
        <p:spPr>
          <a:xfrm>
            <a:off x="4419600" y="2103120"/>
            <a:ext cx="548640" cy="548640"/>
          </a:xfrm>
          <a:prstGeom prst="ellipse">
            <a:avLst/>
          </a:prstGeom>
          <a:solidFill>
            <a:srgbClr val="FFFFFF"/>
          </a:solidFill>
          <a:ln w="38100">
            <a:solidFill>
              <a:srgbClr val="121212"/>
            </a:solidFill>
            <a:prstDash val="solid"/>
          </a:ln>
        </p:spPr>
      </p:sp>
      <p:sp>
        <p:nvSpPr>
          <p:cNvPr id="9" name="Text 7"/>
          <p:cNvSpPr txBox="1"/>
          <p:nvPr/>
        </p:nvSpPr>
        <p:spPr>
          <a:xfrm>
            <a:off x="3322320" y="3200400"/>
            <a:ext cx="2743200" cy="640080"/>
          </a:xfrm>
          <a:prstGeom prst="rect">
            <a:avLst/>
          </a:prstGeom>
          <a:noFill/>
          <a:ln/>
        </p:spPr>
        <p:txBody>
          <a:bodyPr wrap="square" lIns="0" tIns="0" rIns="0" bIns="0" rtlCol="0" anchor="ctr"/>
          <a:lstStyle/>
          <a:p>
            <a:pPr algn="ctr" indent="0" marL="0">
              <a:buNone/>
            </a:pPr>
            <a:r>
              <a:rPr lang="en-US" sz="3400" b="1" dirty="0">
                <a:solidFill>
                  <a:schemeClr val="accent2"/>
                </a:solidFill>
                <a:latin typeface="Arial" pitchFamily="34" charset="0"/>
                <a:ea typeface="Arial" pitchFamily="34" charset="-122"/>
                <a:cs typeface="Arial" pitchFamily="34" charset="-120"/>
              </a:rPr>
              <a:t>Next</a:t>
            </a:r>
            <a:endParaRPr lang="en-US" sz="3400" dirty="0"/>
          </a:p>
        </p:txBody>
      </p:sp>
      <p:sp>
        <p:nvSpPr>
          <p:cNvPr id="10" name="Text 8"/>
          <p:cNvSpPr txBox="1"/>
          <p:nvPr/>
        </p:nvSpPr>
        <p:spPr>
          <a:xfrm>
            <a:off x="3368040" y="3886200"/>
            <a:ext cx="2651760" cy="1097280"/>
          </a:xfrm>
          <a:prstGeom prst="rect">
            <a:avLst/>
          </a:prstGeom>
          <a:noFill/>
          <a:ln/>
        </p:spPr>
        <p:txBody>
          <a:bodyPr wrap="square" lIns="0" tIns="0" rIns="0" bIns="0" rtlCol="0" anchor="ctr"/>
          <a:lstStyle/>
          <a:p>
            <a:pPr algn="ctr" indent="0" marL="0">
              <a:buNone/>
            </a:pPr>
            <a:r>
              <a:rPr lang="en-US" sz="2600" dirty="0">
                <a:solidFill>
                  <a:schemeClr val="tx1"/>
                </a:solidFill>
                <a:latin typeface="Arial" pitchFamily="34" charset="0"/>
                <a:ea typeface="Arial" pitchFamily="34" charset="-122"/>
                <a:cs typeface="Arial" pitchFamily="34" charset="-120"/>
              </a:rPr>
              <a:t>More universities and employers</a:t>
            </a:r>
            <a:endParaRPr lang="en-US" sz="2600" dirty="0"/>
          </a:p>
        </p:txBody>
      </p:sp>
      <p:sp>
        <p:nvSpPr>
          <p:cNvPr id="11" name="Shape 9"/>
          <p:cNvSpPr/>
          <p:nvPr/>
        </p:nvSpPr>
        <p:spPr>
          <a:xfrm>
            <a:off x="7193280" y="2103120"/>
            <a:ext cx="548640" cy="548640"/>
          </a:xfrm>
          <a:prstGeom prst="ellipse">
            <a:avLst/>
          </a:prstGeom>
          <a:solidFill>
            <a:srgbClr val="FFFFFF"/>
          </a:solidFill>
          <a:ln w="38100">
            <a:solidFill>
              <a:srgbClr val="121212"/>
            </a:solidFill>
            <a:prstDash val="solid"/>
          </a:ln>
        </p:spPr>
      </p:sp>
      <p:sp>
        <p:nvSpPr>
          <p:cNvPr id="12" name="Text 10"/>
          <p:cNvSpPr txBox="1"/>
          <p:nvPr/>
        </p:nvSpPr>
        <p:spPr>
          <a:xfrm>
            <a:off x="6096000" y="3200400"/>
            <a:ext cx="2743200" cy="640080"/>
          </a:xfrm>
          <a:prstGeom prst="rect">
            <a:avLst/>
          </a:prstGeom>
          <a:noFill/>
          <a:ln/>
        </p:spPr>
        <p:txBody>
          <a:bodyPr wrap="square" lIns="0" tIns="0" rIns="0" bIns="0" rtlCol="0" anchor="ctr"/>
          <a:lstStyle/>
          <a:p>
            <a:pPr algn="ctr" indent="0" marL="0">
              <a:buNone/>
            </a:pPr>
            <a:r>
              <a:rPr lang="en-US" sz="3400" b="1" dirty="0">
                <a:solidFill>
                  <a:schemeClr val="accent2"/>
                </a:solidFill>
                <a:latin typeface="Arial" pitchFamily="34" charset="0"/>
                <a:ea typeface="Arial" pitchFamily="34" charset="-122"/>
                <a:cs typeface="Arial" pitchFamily="34" charset="-120"/>
              </a:rPr>
              <a:t>Then</a:t>
            </a:r>
            <a:endParaRPr lang="en-US" sz="3400" dirty="0"/>
          </a:p>
        </p:txBody>
      </p:sp>
      <p:sp>
        <p:nvSpPr>
          <p:cNvPr id="13" name="Text 11"/>
          <p:cNvSpPr txBox="1"/>
          <p:nvPr/>
        </p:nvSpPr>
        <p:spPr>
          <a:xfrm>
            <a:off x="6141720" y="3886200"/>
            <a:ext cx="2651760" cy="1097280"/>
          </a:xfrm>
          <a:prstGeom prst="rect">
            <a:avLst/>
          </a:prstGeom>
          <a:noFill/>
          <a:ln/>
        </p:spPr>
        <p:txBody>
          <a:bodyPr wrap="square" lIns="0" tIns="0" rIns="0" bIns="0" rtlCol="0" anchor="ctr"/>
          <a:lstStyle/>
          <a:p>
            <a:pPr algn="ctr" indent="0" marL="0">
              <a:buNone/>
            </a:pPr>
            <a:r>
              <a:rPr lang="en-US" sz="2600" dirty="0">
                <a:solidFill>
                  <a:schemeClr val="tx1"/>
                </a:solidFill>
                <a:latin typeface="Arial" pitchFamily="34" charset="0"/>
                <a:ea typeface="Arial" pitchFamily="34" charset="-122"/>
                <a:cs typeface="Arial" pitchFamily="34" charset="-120"/>
              </a:rPr>
              <a:t>More languages, worldwide</a:t>
            </a:r>
            <a:endParaRPr lang="en-US" sz="2600" dirty="0"/>
          </a:p>
        </p:txBody>
      </p:sp>
      <p:sp>
        <p:nvSpPr>
          <p:cNvPr id="14" name="Shape 12"/>
          <p:cNvSpPr/>
          <p:nvPr/>
        </p:nvSpPr>
        <p:spPr>
          <a:xfrm>
            <a:off x="9985248" y="1874520"/>
            <a:ext cx="512064" cy="1005840"/>
          </a:xfrm>
          <a:prstGeom prst="roundRect">
            <a:avLst>
              <a:gd name="adj" fmla="val 50000"/>
            </a:avLst>
          </a:prstGeom>
          <a:solidFill>
            <a:srgbClr val="FFFFFF"/>
          </a:solidFill>
          <a:ln w="38100">
            <a:solidFill>
              <a:srgbClr val="121212"/>
            </a:solidFill>
            <a:prstDash val="solid"/>
          </a:ln>
        </p:spPr>
      </p:sp>
      <p:sp>
        <p:nvSpPr>
          <p:cNvPr id="15" name="Text 13"/>
          <p:cNvSpPr txBox="1"/>
          <p:nvPr/>
        </p:nvSpPr>
        <p:spPr>
          <a:xfrm>
            <a:off x="8869680" y="3200400"/>
            <a:ext cx="2743200" cy="640080"/>
          </a:xfrm>
          <a:prstGeom prst="rect">
            <a:avLst/>
          </a:prstGeom>
          <a:noFill/>
          <a:ln/>
        </p:spPr>
        <p:txBody>
          <a:bodyPr wrap="square" lIns="0" tIns="0" rIns="0" bIns="0" rtlCol="0" anchor="ctr"/>
          <a:lstStyle/>
          <a:p>
            <a:pPr algn="ctr" indent="0" marL="0">
              <a:buNone/>
            </a:pPr>
            <a:r>
              <a:rPr lang="en-US" sz="3400" b="1" dirty="0">
                <a:solidFill>
                  <a:schemeClr val="accent2"/>
                </a:solidFill>
                <a:latin typeface="Arial" pitchFamily="34" charset="0"/>
                <a:ea typeface="Arial" pitchFamily="34" charset="-122"/>
                <a:cs typeface="Arial" pitchFamily="34" charset="-120"/>
              </a:rPr>
              <a:t>Later</a:t>
            </a:r>
            <a:endParaRPr lang="en-US" sz="3400" dirty="0"/>
          </a:p>
        </p:txBody>
      </p:sp>
      <p:sp>
        <p:nvSpPr>
          <p:cNvPr id="16" name="Text 14"/>
          <p:cNvSpPr txBox="1"/>
          <p:nvPr/>
        </p:nvSpPr>
        <p:spPr>
          <a:xfrm>
            <a:off x="8915400" y="3886200"/>
            <a:ext cx="2651760" cy="1097280"/>
          </a:xfrm>
          <a:prstGeom prst="rect">
            <a:avLst/>
          </a:prstGeom>
          <a:noFill/>
          <a:ln/>
        </p:spPr>
        <p:txBody>
          <a:bodyPr wrap="square" lIns="0" tIns="0" rIns="0" bIns="0" rtlCol="0" anchor="ctr"/>
          <a:lstStyle/>
          <a:p>
            <a:pPr algn="ctr" indent="0" marL="0">
              <a:buNone/>
            </a:pPr>
            <a:r>
              <a:rPr lang="en-US" sz="2600" dirty="0">
                <a:solidFill>
                  <a:schemeClr val="tx1"/>
                </a:solidFill>
                <a:latin typeface="Arial" pitchFamily="34" charset="0"/>
                <a:ea typeface="Arial" pitchFamily="34" charset="-122"/>
                <a:cs typeface="Arial" pitchFamily="34" charset="-120"/>
              </a:rPr>
              <a:t>Every field, with AI</a:t>
            </a:r>
            <a:endParaRPr lang="en-US" sz="2600" dirty="0"/>
          </a:p>
        </p:txBody>
      </p:sp>
      <p:sp>
        <p:nvSpPr>
          <p:cNvPr id="17" name="Text 15"/>
          <p:cNvSpPr txBox="1"/>
          <p:nvPr/>
        </p:nvSpPr>
        <p:spPr>
          <a:xfrm>
            <a:off x="548640" y="5394960"/>
            <a:ext cx="11064240" cy="640080"/>
          </a:xfrm>
          <a:prstGeom prst="rect">
            <a:avLst/>
          </a:prstGeom>
          <a:noFill/>
          <a:ln/>
        </p:spPr>
        <p:txBody>
          <a:bodyPr wrap="square" lIns="0" tIns="0" rIns="0" bIns="0" rtlCol="0" anchor="ctr"/>
          <a:lstStyle/>
          <a:p>
            <a:pPr indent="0" marL="0">
              <a:buNone/>
            </a:pPr>
            <a:r>
              <a:rPr lang="en-US" sz="3000" b="1" dirty="0">
                <a:solidFill>
                  <a:schemeClr val="tx1"/>
                </a:solidFill>
                <a:latin typeface="Arial" pitchFamily="34" charset="0"/>
                <a:ea typeface="Arial" pitchFamily="34" charset="-122"/>
                <a:cs typeface="Arial" pitchFamily="34" charset="-120"/>
              </a:rPr>
              <a:t>Same engine, new data: any field can follow.</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ctr"/>
          <a:lstStyle/>
          <a:p>
            <a:pPr algn="l" indent="0" marL="0">
              <a:buNone/>
            </a:pPr>
            <a:r>
              <a:rPr lang="en-US" sz="7200" b="1" dirty="0">
                <a:solidFill>
                  <a:schemeClr val="bg1"/>
                </a:solidFill>
              </a:rPr>
              <a:t>Don't just learn it.</a:t>
            </a:r>
            <a:endParaRPr lang="en-US" sz="7200" dirty="0"/>
          </a:p>
        </p:txBody>
      </p:sp>
      <p:sp>
        <p:nvSpPr>
          <p:cNvPr id="3" name="Text 1"/>
          <p:cNvSpPr txBox="1"/>
          <p:nvPr/>
        </p:nvSpPr>
        <p:spPr>
          <a:xfrm>
            <a:off x="731520" y="3429000"/>
            <a:ext cx="10698480" cy="1097280"/>
          </a:xfrm>
          <a:prstGeom prst="rect">
            <a:avLst/>
          </a:prstGeom>
          <a:noFill/>
          <a:ln/>
        </p:spPr>
        <p:txBody>
          <a:bodyPr wrap="square" lIns="0" tIns="0" rIns="0" bIns="0" rtlCol="0" anchor="ctr"/>
          <a:lstStyle/>
          <a:p>
            <a:pPr indent="0" marL="0">
              <a:buNone/>
            </a:pPr>
            <a:r>
              <a:rPr lang="en-US" sz="7200" b="1" dirty="0">
                <a:solidFill>
                  <a:schemeClr val="bg1"/>
                </a:solidFill>
                <a:latin typeface="Arial" pitchFamily="34" charset="0"/>
                <a:ea typeface="Arial" pitchFamily="34" charset="-122"/>
                <a:cs typeface="Arial" pitchFamily="34" charset="-120"/>
              </a:rPr>
              <a:t>Prove it.</a:t>
            </a:r>
            <a:endParaRPr lang="en-US" sz="7200" dirty="0"/>
          </a:p>
        </p:txBody>
      </p:sp>
      <p:sp>
        <p:nvSpPr>
          <p:cNvPr id="4" name="Shape 2"/>
          <p:cNvSpPr/>
          <p:nvPr/>
        </p:nvSpPr>
        <p:spPr>
          <a:xfrm>
            <a:off x="731520" y="1325880"/>
            <a:ext cx="5486400" cy="0"/>
          </a:xfrm>
          <a:prstGeom prst="line">
            <a:avLst/>
          </a:prstGeom>
          <a:noFill/>
          <a:ln w="114300">
            <a:solidFill>
              <a:srgbClr val="0039A6"/>
            </a:solidFill>
            <a:prstDash val="solid"/>
          </a:ln>
        </p:spPr>
      </p:sp>
      <p:sp>
        <p:nvSpPr>
          <p:cNvPr id="5" name="Shape 3"/>
          <p:cNvSpPr/>
          <p:nvPr/>
        </p:nvSpPr>
        <p:spPr>
          <a:xfrm>
            <a:off x="722376" y="1133856"/>
            <a:ext cx="384048" cy="384048"/>
          </a:xfrm>
          <a:prstGeom prst="ellipse">
            <a:avLst/>
          </a:prstGeom>
          <a:solidFill>
            <a:srgbClr val="FFFFFF"/>
          </a:solidFill>
          <a:ln w="38100">
            <a:solidFill>
              <a:srgbClr val="121212"/>
            </a:solidFill>
            <a:prstDash val="solid"/>
          </a:ln>
        </p:spPr>
      </p:sp>
      <p:sp>
        <p:nvSpPr>
          <p:cNvPr id="6" name="Shape 4"/>
          <p:cNvSpPr/>
          <p:nvPr/>
        </p:nvSpPr>
        <p:spPr>
          <a:xfrm>
            <a:off x="2459736" y="1133856"/>
            <a:ext cx="384048" cy="384048"/>
          </a:xfrm>
          <a:prstGeom prst="ellipse">
            <a:avLst/>
          </a:prstGeom>
          <a:solidFill>
            <a:srgbClr val="FFFFFF"/>
          </a:solidFill>
          <a:ln w="38100">
            <a:solidFill>
              <a:srgbClr val="121212"/>
            </a:solidFill>
            <a:prstDash val="solid"/>
          </a:ln>
        </p:spPr>
      </p:sp>
      <p:sp>
        <p:nvSpPr>
          <p:cNvPr id="7" name="Shape 5"/>
          <p:cNvSpPr/>
          <p:nvPr/>
        </p:nvSpPr>
        <p:spPr>
          <a:xfrm>
            <a:off x="4197096" y="1133856"/>
            <a:ext cx="384048" cy="384048"/>
          </a:xfrm>
          <a:prstGeom prst="ellipse">
            <a:avLst/>
          </a:prstGeom>
          <a:solidFill>
            <a:srgbClr val="FFFFFF"/>
          </a:solidFill>
          <a:ln w="38100">
            <a:solidFill>
              <a:srgbClr val="121212"/>
            </a:solidFill>
            <a:prstDash val="solid"/>
          </a:ln>
        </p:spPr>
      </p:sp>
      <p:sp>
        <p:nvSpPr>
          <p:cNvPr id="8" name="Shape 6"/>
          <p:cNvSpPr/>
          <p:nvPr/>
        </p:nvSpPr>
        <p:spPr>
          <a:xfrm>
            <a:off x="5760720" y="640080"/>
            <a:ext cx="914400" cy="1371600"/>
          </a:xfrm>
          <a:prstGeom prst="roundRect">
            <a:avLst>
              <a:gd name="adj" fmla="val 50000"/>
            </a:avLst>
          </a:prstGeom>
          <a:solidFill>
            <a:srgbClr val="FCCC0A"/>
          </a:solidFill>
          <a:ln w="12700">
            <a:solidFill>
              <a:srgbClr val="FCCC0A"/>
            </a:solidFill>
            <a:prstDash val="solid"/>
          </a:ln>
        </p:spPr>
      </p:sp>
      <p:sp>
        <p:nvSpPr>
          <p:cNvPr id="9" name="Shape 7"/>
          <p:cNvSpPr/>
          <p:nvPr/>
        </p:nvSpPr>
        <p:spPr>
          <a:xfrm>
            <a:off x="5961888" y="822960"/>
            <a:ext cx="512064" cy="1005840"/>
          </a:xfrm>
          <a:prstGeom prst="roundRect">
            <a:avLst>
              <a:gd name="adj" fmla="val 50000"/>
            </a:avLst>
          </a:prstGeom>
          <a:solidFill>
            <a:srgbClr val="FFFFFF"/>
          </a:solidFill>
          <a:ln w="38100">
            <a:solidFill>
              <a:srgbClr val="121212"/>
            </a:solidFill>
            <a:prstDash val="solid"/>
          </a:ln>
        </p:spPr>
      </p:sp>
      <p:sp>
        <p:nvSpPr>
          <p:cNvPr id="10" name="Text 8"/>
          <p:cNvSpPr txBox="1"/>
          <p:nvPr/>
        </p:nvSpPr>
        <p:spPr>
          <a:xfrm>
            <a:off x="731520" y="5577840"/>
            <a:ext cx="10698480" cy="548640"/>
          </a:xfrm>
          <a:prstGeom prst="rect">
            <a:avLst/>
          </a:prstGeom>
          <a:noFill/>
          <a:ln/>
        </p:spPr>
        <p:txBody>
          <a:bodyPr wrap="square" lIns="0" tIns="0" rIns="0" bIns="0" rtlCol="0" anchor="ctr"/>
          <a:lstStyle/>
          <a:p>
            <a:pPr indent="0" marL="0">
              <a:buNone/>
            </a:pPr>
            <a:r>
              <a:rPr lang="en-US" sz="2400" dirty="0">
                <a:solidFill>
                  <a:schemeClr val="bg1"/>
                </a:solidFill>
                <a:latin typeface="Arial" pitchFamily="34" charset="0"/>
                <a:ea typeface="Arial" pitchFamily="34" charset="-122"/>
                <a:cs typeface="Arial" pitchFamily="34" charset="-120"/>
              </a:rPr>
              <a:t>verity--eezhan0805.replit.app</a:t>
            </a:r>
            <a:endParaRPr lang="en-US" sz="2400" dirty="0"/>
          </a:p>
        </p:txBody>
      </p:sp>
    </p:spTree>
  </p:cSld>
  <p:clrMapOvr>
    <a:masterClrMapping/>
  </p:clrMapOvr>
</p:sld>
</file>

<file path=ppt/theme/theme1.xml><?xml version="1.0" encoding="utf-8"?>
<a:theme xmlns:a="http://schemas.openxmlformats.org/drawingml/2006/main" name="Varity Transit">
  <a:themeElements>
    <a:clrScheme name="Varity Transit">
      <a:dk1>
        <a:srgbClr val="121212"/>
      </a:dk1>
      <a:lt1>
        <a:srgbClr val="FFFFFF"/>
      </a:lt1>
      <a:dk2>
        <a:srgbClr val="45464A"/>
      </a:dk2>
      <a:lt2>
        <a:srgbClr val="F2F3F1"/>
      </a:lt2>
      <a:accent1>
        <a:srgbClr val="FCCC0A"/>
      </a:accent1>
      <a:accent2>
        <a:srgbClr val="0039A6"/>
      </a:accent2>
      <a:accent3>
        <a:srgbClr val="00843A"/>
      </a:accent3>
      <a:accent4>
        <a:srgbClr val="C8102E"/>
      </a:accent4>
      <a:accent5>
        <a:srgbClr val="FF6319"/>
      </a:accent5>
      <a:accent6>
        <a:srgbClr val="66676B"/>
      </a:accent6>
      <a:hlink>
        <a:srgbClr val="0039A6"/>
      </a:hlink>
      <a:folHlink>
        <a:srgbClr val="0039A6"/>
      </a:folHlink>
    </a:clrScheme>
    <a:fontScheme name="Varity Trans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Varity: prove you are job-ready</dc:title>
  <dc:subject>PptxGenJS Presentation</dc:subject>
  <dc:creator>Hokkien Mee Is Purple</dc:creator>
  <cp:lastModifiedBy>Hokkien Mee Is Purple</cp:lastModifiedBy>
  <cp:revision>1</cp:revision>
  <dcterms:created xsi:type="dcterms:W3CDTF">2026-10-31T22:02:58Z</dcterms:created>
  <dcterms:modified xsi:type="dcterms:W3CDTF">2026-10-31T22:02:58Z</dcterms:modified>
</cp:coreProperties>
</file>